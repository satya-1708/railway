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81" r:id="rId2"/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itchFamily="2" charset="77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 TargetMode="External"/><Relationship Id="rId6" Type="http://schemas.openxmlformats.org/officeDocument/2006/relationships/hyperlink" Target="http://ieeexplore.ieee.org/document/10883358/" TargetMode="External"/><Relationship Id="rId7" Type="http://schemas.openxmlformats.org/officeDocument/2006/relationships/hyperlink" Target="http://arxiv.org/abs/1604.03169" TargetMode="External"/><Relationship Id="rId8" Type="http://schemas.openxmlformats.org/officeDocument/2006/relationships/hyperlink" Target="https://link.springer.com/article/10.1186/s13007-023-01122-x" TargetMode="External"/><Relationship Id="rId9" Type="http://schemas.openxmlformats.org/officeDocument/2006/relationships/hyperlink" Target="https://www.nature.com/articles/s41598-025-18613-7" TargetMode="External"/><Relationship Id="rId10" Type="http://schemas.openxmlformats.org/officeDocument/2006/relationships/hyperlink" Target="https://pmc.ncbi.nlm.nih.gov/articles/PMC164729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3729" y="2561719"/>
            <a:ext cx="10668000" cy="23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6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b="1" sz="1300">
                <a:solidFill>
                  <a:srgbClr val="0A2540"/>
                </a:solidFill>
                <a:latin typeface="Calibri"/>
              </a:rPr>
              <a:t>Problem Statement ID – </a:t>
            </a:r>
            <a:r>
              <a:rPr b="1" sz="1300">
                <a:solidFill>
                  <a:srgbClr val="DC2626"/>
                </a:solidFill>
                <a:latin typeface="Calibri"/>
              </a:rPr>
              <a:t>26028</a:t>
            </a:r>
          </a:p>
          <a:p>
            <a:r>
              <a:rPr b="1" sz="1300">
                <a:solidFill>
                  <a:srgbClr val="0A2540"/>
                </a:solidFill>
                <a:latin typeface="Calibri"/>
              </a:rPr>
              <a:t>Problem Statement Title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Dynamic Forecast of Expected
Time of Arrival (ETA) for Coaching Trains</a:t>
            </a:r>
          </a:p>
          <a:p>
            <a:r>
              <a:rPr b="1" sz="1300">
                <a:solidFill>
                  <a:srgbClr val="0A2540"/>
                </a:solidFill>
                <a:latin typeface="Calibri"/>
              </a:rPr>
              <a:t>Theme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r>
              <a:rPr b="1" sz="1300">
                <a:solidFill>
                  <a:srgbClr val="0A2540"/>
                </a:solidFill>
                <a:latin typeface="Calibri"/>
              </a:rPr>
              <a:t>PS Category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Software</a:t>
            </a:r>
          </a:p>
          <a:p>
            <a:r>
              <a:rPr b="1" sz="1300">
                <a:solidFill>
                  <a:srgbClr val="0A2540"/>
                </a:solidFill>
                <a:latin typeface="Calibri"/>
              </a:rPr>
              <a:t>Ministry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Ministry of Railways / Indian Railways</a:t>
            </a:r>
          </a:p>
          <a:p>
            <a:r>
              <a:rPr b="1" sz="1300">
                <a:solidFill>
                  <a:srgbClr val="0A2540"/>
                </a:solidFill>
                <a:latin typeface="Calibri"/>
              </a:rPr>
              <a:t>Team Name – </a:t>
            </a:r>
            <a:r>
              <a:rPr b="1" sz="1300">
                <a:solidFill>
                  <a:srgbClr val="0284C7"/>
                </a:solidFill>
                <a:latin typeface="Calibri"/>
              </a:rPr>
              <a:t>HelloWorldWarriors</a:t>
            </a: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Band 1"/>
          <p:cNvSpPr/>
          <p:nvPr/>
        </p:nvSpPr>
        <p:spPr>
          <a:xfrm>
            <a:off x="0" y="6350000"/>
            <a:ext cx="3048000" cy="50800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2" name="Band 2"/>
          <p:cNvSpPr/>
          <p:nvPr/>
        </p:nvSpPr>
        <p:spPr>
          <a:xfrm>
            <a:off x="3048000" y="6350000"/>
            <a:ext cx="3048000" cy="508000"/>
          </a:xfrm>
          <a:prstGeom prst="rect">
            <a:avLst/>
          </a:prstGeom>
          <a:solidFill>
            <a:srgbClr val="0E8A9B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3" name="Band 3"/>
          <p:cNvSpPr/>
          <p:nvPr/>
        </p:nvSpPr>
        <p:spPr>
          <a:xfrm>
            <a:off x="6096000" y="6350000"/>
            <a:ext cx="3048000" cy="508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4" name="Band 4"/>
          <p:cNvSpPr/>
          <p:nvPr/>
        </p:nvSpPr>
        <p:spPr>
          <a:xfrm>
            <a:off x="9144000" y="6350000"/>
            <a:ext cx="3048000" cy="5080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pic>
        <p:nvPicPr>
          <p:cNvPr id="805" name="Picture 804" descr="railflow_logo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50" y="1323129"/>
            <a:ext cx="3810000" cy="1084385"/>
          </a:xfrm>
          <a:prstGeom prst="rect">
            <a:avLst/>
          </a:prstGeom>
        </p:spPr>
      </p:pic>
      <p:pic>
        <p:nvPicPr>
          <p:cNvPr id="806" name="Picture 805" descr="railway_hero_illustr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572" y="1548949"/>
            <a:ext cx="4804703" cy="35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Idea Name Banner"/>
          <p:cNvSpPr/>
          <p:nvPr/>
        </p:nvSpPr>
        <p:spPr>
          <a:xfrm>
            <a:off x="508000" y="1371600"/>
            <a:ext cx="11176000" cy="584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lIns="114300" tIns="45720" rIns="114300" bIns="45720" anchor="ctr" wrap="square"/>
          <a:lstStyle/>
          <a:p>
            <a:pPr algn="ctr"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RailFlow AI  |  Real-Time Locomotive GPS  →  Track Graph AI  →  Dynamic ETA &amp; Platform Protector</a:t>
            </a:r>
          </a:p>
        </p:txBody>
      </p:sp>
      <p:sp>
        <p:nvSpPr>
          <p:cNvPr id="302" name="Card Solution"/>
          <p:cNvSpPr/>
          <p:nvPr/>
        </p:nvSpPr>
        <p:spPr>
          <a:xfrm>
            <a:off x="50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PROPOSED SOLUTION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Live GPS + signal aspects + track congestion fused into spatial railway graph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Dynamic ETA recalculation every 30 seconds based on live track reality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Probabilistic arrival: e.g. 18:45 ± 4 mins at 94% confidence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Synchronized feed to Passenger App, Station Master &amp; Section Controller</a:t>
            </a:r>
          </a:p>
        </p:txBody>
      </p:sp>
      <p:sp>
        <p:nvSpPr>
          <p:cNvPr id="303" name="Card Problem Fit"/>
          <p:cNvSpPr/>
          <p:nvPr/>
        </p:nvSpPr>
        <p:spPr>
          <a:xfrm>
            <a:off x="431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HOW IT SOLVES THE PROBLEM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Today (NTES): static formula — Schedule + Delay − Slack. No track awareness.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Fails during cascading delays, slow preceding trains, junction congestion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Prediction error: 28 mins → &lt; 4 mins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Anticipates overtakes &amp; signal halts before they happen</a:t>
            </a:r>
          </a:p>
        </p:txBody>
      </p:sp>
      <p:sp>
        <p:nvSpPr>
          <p:cNvPr id="304" name="Card Innovation"/>
          <p:cNvSpPr/>
          <p:nvPr/>
        </p:nvSpPr>
        <p:spPr>
          <a:xfrm>
            <a:off x="812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INNOVATION &amp; UNIQUENESS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"Why is my train late?" — plain-language delay attribution for passengers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Platform Clash Protector: 60-min warning when 2 trains target same platform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Dispatcher “What-If” Simulator: test routing decisions before executing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Zero extra hardware — uses existing ISRO NavIC / CRIS RTIS GPS</a:t>
            </a:r>
          </a:p>
        </p:txBody>
      </p:sp>
      <p:sp>
        <p:nvSpPr>
          <p:cNvPr id="305" name="Edge Callout"/>
          <p:cNvSpPr/>
          <p:nvPr/>
        </p:nvSpPr>
        <p:spPr>
          <a:xfrm>
            <a:off x="508000" y="4648200"/>
            <a:ext cx="11176000" cy="1320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182880" tIns="91440" rIns="182880" bIns="91440" anchor="ctr" wrap="square"/>
          <a:lstStyle/>
          <a:p>
            <a:pPr algn="l">
              <a:spcAft>
                <a:spcPts val="300"/>
              </a:spcAft>
              <a:buNone/>
            </a:pPr>
            <a:r>
              <a:rPr b="1" sz="1000">
                <a:solidFill>
                  <a:srgbClr val="B45309"/>
                </a:solidFill>
                <a:latin typeface="Calibri"/>
              </a:rPr>
              <a:t>OUR TECHNICAL EDGE</a:t>
            </a:r>
          </a:p>
          <a:p>
            <a:r>
              <a:rPr b="1" sz="1100">
                <a:solidFill>
                  <a:srgbClr val="0A2540"/>
                </a:solidFill>
                <a:latin typeface="Calibri"/>
              </a:rPr>
              <a:t>Spatial Track Graph  +  Multi-Factor LightGBM ML  +  Real-Time Platform Clash Resolver
</a:t>
            </a:r>
            <a:r>
              <a:rPr b="0" sz="950">
                <a:solidFill>
                  <a:srgbClr val="475569"/>
                </a:solidFill>
                <a:latin typeface="Calibri"/>
              </a:rPr>
              <a:t>Static NTES and basic tracking apps deliver none of these three.</a:t>
            </a:r>
          </a:p>
        </p:txBody>
      </p:sp>
    </p:spTree>
    <p:extLst>
      <p:ext uri="{BB962C8B-B14F-4D97-AF65-F5344CB8AC3E}">
        <p14:creationId xmlns:p14="http://schemas.microsoft.com/office/powerpoint/2010/main" val="361470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ch Stack Strip"/>
          <p:cNvSpPr/>
          <p:nvPr/>
        </p:nvSpPr>
        <p:spPr>
          <a:xfrm>
            <a:off x="508000" y="1168400"/>
            <a:ext cx="11176000" cy="635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txBody>
          <a:bodyPr lIns="137160" tIns="45720" rIns="137160" bIns="45720" anchor="ctr" wrap="square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TECH STACK  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React.js / TailwindCSS · Python + FastAPI (Async) · WebSockets · LightGBM Regressor · NetworkX (Spatial Graph) · PostgreSQL + PostGIS · Open-Meteo Free Weather API</a:t>
            </a:r>
          </a:p>
        </p:txBody>
      </p:sp>
      <p:sp>
        <p:nvSpPr>
          <p:cNvPr id="411" name="Step 1"/>
          <p:cNvSpPr/>
          <p:nvPr/>
        </p:nvSpPr>
        <p:spPr>
          <a:xfrm>
            <a:off x="5080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1  Ingest &amp; Telemetry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ISRO NavIC / CRIS RTIS locomotive GPS stream (30s) + Open-Meteo live weather + TSR caution orders</a:t>
            </a:r>
          </a:p>
        </p:txBody>
      </p:sp>
      <p:sp>
        <p:nvSpPr>
          <p:cNvPr id="412" name="Step 2"/>
          <p:cNvSpPr/>
          <p:nvPr/>
        </p:nvSpPr>
        <p:spPr>
          <a:xfrm>
            <a:off x="45339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2  Spatial Track Graph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NetworkX directed railway graph — Stations = Nodes, Block Sections = Weighted Edges</a:t>
            </a:r>
          </a:p>
        </p:txBody>
      </p:sp>
      <p:sp>
        <p:nvSpPr>
          <p:cNvPr id="413" name="Step 3"/>
          <p:cNvSpPr/>
          <p:nvPr/>
        </p:nvSpPr>
        <p:spPr>
          <a:xfrm>
            <a:off x="8483600" y="191531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3  Kinematics &amp; Headway Engine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Rake traction physics (WAP-7, LHB) + Automatic Block Signaling block-headway constraints</a:t>
            </a:r>
          </a:p>
        </p:txBody>
      </p:sp>
      <p:sp>
        <p:nvSpPr>
          <p:cNvPr id="414" name="Step 4"/>
          <p:cNvSpPr/>
          <p:nvPr/>
        </p:nvSpPr>
        <p:spPr>
          <a:xfrm>
            <a:off x="8483600" y="3469481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4  Priority &amp; Overtake Modeling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Detects trailing Rajdhani / Vande Bharat and pre-calculates loop-line siding wait times</a:t>
            </a:r>
          </a:p>
        </p:txBody>
      </p:sp>
      <p:sp>
        <p:nvSpPr>
          <p:cNvPr id="415" name="Step 5"/>
          <p:cNvSpPr/>
          <p:nvPr/>
        </p:nvSpPr>
        <p:spPr>
          <a:xfrm>
            <a:off x="4508500" y="3512742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5  LightGBM Dynamic ETA Engine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Multi-horizon delay regression with probabilistic bounds (±4 min) using 50+ live features</a:t>
            </a:r>
          </a:p>
        </p:txBody>
      </p:sp>
      <p:sp>
        <p:nvSpPr>
          <p:cNvPr id="416" name="Step 6"/>
          <p:cNvSpPr/>
          <p:nvPr/>
        </p:nvSpPr>
        <p:spPr>
          <a:xfrm>
            <a:off x="508000" y="3521307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6  Alerts &amp; Controller Dashboard</a:t>
            </a:r>
          </a:p>
          <a:p>
            <a:r>
              <a:rPr b="0" sz="880">
                <a:solidFill>
                  <a:srgbClr val="1E293B"/>
                </a:solidFill>
                <a:latin typeface="Calibri"/>
              </a:rPr>
              <a:t>Sub-second WebSocket push to Passenger App, Station Master screen &amp; DRM Control Room</a:t>
            </a:r>
          </a:p>
        </p:txBody>
      </p:sp>
      <p:sp>
        <p:nvSpPr>
          <p:cNvPr id="421" name="Arrow 421"/>
          <p:cNvSpPr/>
          <p:nvPr/>
        </p:nvSpPr>
        <p:spPr>
          <a:xfrm>
            <a:off x="3733800" y="2603480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2" name="Arrow 422"/>
          <p:cNvSpPr/>
          <p:nvPr/>
        </p:nvSpPr>
        <p:spPr>
          <a:xfrm>
            <a:off x="7759700" y="2574693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3" name="Arrow 423"/>
          <p:cNvSpPr/>
          <p:nvPr/>
        </p:nvSpPr>
        <p:spPr>
          <a:xfrm>
            <a:off x="9880600" y="3378200"/>
            <a:ext cx="381000" cy="3810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105219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849" y="92325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Arrow 424"/>
          <p:cNvSpPr/>
          <p:nvPr/>
        </p:nvSpPr>
        <p:spPr>
          <a:xfrm>
            <a:off x="7708900" y="402667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5" name="Arrow 425"/>
          <p:cNvSpPr/>
          <p:nvPr/>
        </p:nvSpPr>
        <p:spPr>
          <a:xfrm>
            <a:off x="3711247" y="408324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431" name="Outcome Bar"/>
          <p:cNvSpPr/>
          <p:nvPr/>
        </p:nvSpPr>
        <p:spPr>
          <a:xfrm>
            <a:off x="464750" y="4985942"/>
            <a:ext cx="11176000" cy="4826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txBody>
          <a:bodyPr lIns="137160" tIns="27432" rIns="137160" bIns="27432" anchor="ctr" wrap="square"/>
          <a:lstStyle/>
          <a:p>
            <a:pPr algn="ctr">
              <a:buNone/>
            </a:pPr>
            <a:r>
              <a:rPr b="1" sz="1050">
                <a:solidFill>
                  <a:srgbClr val="B45309"/>
                </a:solidFill>
                <a:latin typeface="Calibri"/>
              </a:rPr>
              <a:t>Steps 1–5 process 10,000+ trains with sub-15ms latency — entire pipeline runs on free open-source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39AF-8732-2678-13BC-2728996A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517589"/>
            <a:ext cx="10972800" cy="12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Stat 5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800">
                <a:solidFill>
                  <a:srgbClr val="15803D"/>
                </a:solidFill>
                <a:latin typeface="Calibri"/>
              </a:rPr>
              <a:t>Zero Extra Capex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100% software — plugs directly into existing CRIS RTIS / ISRO NavIC GPS infrastructure</a:t>
            </a:r>
          </a:p>
        </p:txBody>
      </p:sp>
      <p:sp>
        <p:nvSpPr>
          <p:cNvPr id="502" name="Stat 5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600">
                <a:solidFill>
                  <a:srgbClr val="B45309"/>
                </a:solidFill>
                <a:latin typeface="Calibri"/>
              </a:rPr>
              <a:t>10,000+ trains / 17 Zones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Async microservices handle nationwide real-time operations in under 20ms per section</a:t>
            </a:r>
          </a:p>
        </p:txBody>
      </p:sp>
      <p:sp>
        <p:nvSpPr>
          <p:cNvPr id="503" name="Stat 5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800">
                <a:solidFill>
                  <a:srgbClr val="15803D"/>
                </a:solidFill>
                <a:latin typeface="Calibri"/>
              </a:rPr>
              <a:t>Proven ML Approach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Gradient Boosted Trees (LightGBM) are industry-standard for real-time tabular dispatch</a:t>
            </a:r>
          </a:p>
        </p:txBody>
      </p:sp>
      <p:sp>
        <p:nvSpPr>
          <p:cNvPr id="510" name="Table Label"/>
          <p:cNvSpPr/>
          <p:nvPr/>
        </p:nvSpPr>
        <p:spPr>
          <a:xfrm>
            <a:off x="508000" y="2743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/>
          <a:lstStyle/>
          <a:p>
            <a:pPr algn="l"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RISKS &amp; MITIGATION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89BE3-A1D9-9D4D-B549-98B4FB2932B6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3048000"/>
          <a:ext cx="11176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5397529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3287669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t>Risk / Challenge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 Strategy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8787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GPS signal lost in tunnels or remote hill sections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Physics-based Dead-Reckoning: uses last known speed, track gradient &amp; block signal timers until GPS resumes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7428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Sudden track block, accident or emergency signal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Sub-second spatial graph recalculation; delay vectors propagate instantly across all connected trains &amp;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746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Peak telemetry burst during festival rush (Diwali / Chhath Puja)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In-memory stream buffering (Redis / SQLite) absorbs massive concurrent GPS packets with zero packet loss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792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Passenger confusion over unexplained multi-hour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Explainable AI (XAI / SHAP) translates delay root-cause into plain Hindi / English for every passenger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57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Stat 6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800">
                <a:solidFill>
                  <a:srgbClr val="B45309"/>
                </a:solidFill>
                <a:latin typeface="Calibri"/>
              </a:rPr>
              <a:t>85%+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reduction in arrival prediction error (MAE: ~28 mins → &lt; 4 mins)</a:t>
            </a:r>
          </a:p>
        </p:txBody>
      </p:sp>
      <p:sp>
        <p:nvSpPr>
          <p:cNvPr id="602" name="Stat 6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400">
                <a:solidFill>
                  <a:srgbClr val="B45309"/>
                </a:solidFill>
                <a:latin typeface="Calibri"/>
              </a:rPr>
              <a:t>1.3 Billion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annual passenger journeys protected from platform anxiety &amp; missed connections</a:t>
            </a:r>
          </a:p>
        </p:txBody>
      </p:sp>
      <p:sp>
        <p:nvSpPr>
          <p:cNvPr id="603" name="Stat 6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800">
                <a:solidFill>
                  <a:srgbClr val="B45309"/>
                </a:solidFill>
                <a:latin typeface="Calibri"/>
              </a:rPr>
              <a:t>&lt; 15 ms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real-time dynamic ETA prediction latency per train section update</a:t>
            </a:r>
          </a:p>
        </p:txBody>
      </p:sp>
      <p:sp>
        <p:nvSpPr>
          <p:cNvPr id="610" name="Audience Strip"/>
          <p:cNvSpPr/>
          <p:nvPr/>
        </p:nvSpPr>
        <p:spPr>
          <a:xfrm>
            <a:off x="508000" y="2768600"/>
            <a:ext cx="11176000" cy="6096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</p:spPr>
        <p:txBody>
          <a:bodyPr lIns="137160" tIns="36576" rIns="137160" bIns="36576" anchor="ctr" wrap="square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sz="1000">
                <a:solidFill>
                  <a:srgbClr val="FFFFFF"/>
                </a:solidFill>
                <a:latin typeface="Calibri"/>
              </a:rPr>
              <a:t>Passengers: </a:t>
            </a:r>
            <a:r>
              <a:rPr b="0" sz="1000">
                <a:solidFill>
                  <a:srgbClr val="FFFFFF"/>
                </a:solidFill>
                <a:latin typeface="Calibri"/>
              </a:rPr>
              <a:t>real arrival range in plain words + delay reason     </a:t>
            </a:r>
            <a:r>
              <a:rPr b="1" sz="1000">
                <a:solidFill>
                  <a:srgbClr val="FFFFFF"/>
                </a:solidFill>
                <a:latin typeface="Calibri"/>
              </a:rPr>
              <a:t>|     </a:t>
            </a:r>
            <a:r>
              <a:rPr b="1" sz="1000">
                <a:solidFill>
                  <a:srgbClr val="FFFFFF"/>
                </a:solidFill>
                <a:latin typeface="Calibri"/>
              </a:rPr>
              <a:t>Station Masters &amp; Controllers: </a:t>
            </a:r>
            <a:r>
              <a:rPr b="0" sz="1000">
                <a:solidFill>
                  <a:srgbClr val="FFFFFF"/>
                </a:solidFill>
                <a:latin typeface="Calibri"/>
              </a:rPr>
              <a:t>60-min platform clash alert + What-If dispatch simulator</a:t>
            </a:r>
          </a:p>
        </p:txBody>
      </p:sp>
      <p:sp>
        <p:nvSpPr>
          <p:cNvPr id="621" name="Benefit 621"/>
          <p:cNvSpPr/>
          <p:nvPr/>
        </p:nvSpPr>
        <p:spPr>
          <a:xfrm>
            <a:off x="50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OPERATIONAL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Prevents junction platform gridlocks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Synchronizes rake cleaning, watering &amp; crew changeover</a:t>
            </a:r>
          </a:p>
        </p:txBody>
      </p:sp>
      <p:sp>
        <p:nvSpPr>
          <p:cNvPr id="622" name="Benefit 622"/>
          <p:cNvSpPr/>
          <p:nvPr/>
        </p:nvSpPr>
        <p:spPr>
          <a:xfrm>
            <a:off x="431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ECONOMIC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Cuts idle traction power waste from unnecessary stoppages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Reduces crew overtime costs &amp; turnaround time</a:t>
            </a:r>
          </a:p>
        </p:txBody>
      </p:sp>
      <p:sp>
        <p:nvSpPr>
          <p:cNvPr id="623" name="Benefit 623"/>
          <p:cNvSpPr/>
          <p:nvPr/>
        </p:nvSpPr>
        <p:spPr>
          <a:xfrm>
            <a:off x="812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SOCIAL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Restores commuter trust in railway punctuality</a:t>
            </a:r>
          </a:p>
          <a:p>
            <a:r>
              <a:rPr b="0" sz="900">
                <a:solidFill>
                  <a:srgbClr val="1E293B"/>
                </a:solidFill>
                <a:latin typeface="Calibri"/>
              </a:rPr>
              <a:t>•  Eliminates dangerous overcrowding from wrong-platform rushes</a:t>
            </a:r>
          </a:p>
        </p:txBody>
      </p:sp>
      <p:pic>
        <p:nvPicPr>
          <p:cNvPr id="624" name="Graphic 624" descr="Soci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3708400"/>
            <a:ext cx="558800" cy="558800"/>
          </a:xfrm>
          <a:prstGeom prst="rect">
            <a:avLst/>
          </a:prstGeom>
        </p:spPr>
      </p:pic>
      <p:pic>
        <p:nvPicPr>
          <p:cNvPr id="625" name="Graphic 625" descr="Economic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600" y="3708400"/>
            <a:ext cx="558800" cy="558800"/>
          </a:xfrm>
          <a:prstGeom prst="rect">
            <a:avLst/>
          </a:prstGeom>
        </p:spPr>
      </p:pic>
      <p:pic>
        <p:nvPicPr>
          <p:cNvPr id="626" name="Graphic 626" descr="Environment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6600" y="3708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Standards Strip"/>
          <p:cNvSpPr/>
          <p:nvPr/>
        </p:nvSpPr>
        <p:spPr>
          <a:xfrm>
            <a:off x="507999" y="3682589"/>
            <a:ext cx="11176000" cy="93980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37160" tIns="54864" rIns="137160" bIns="54864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OPEN DATA &amp; STANDARDS USED</a:t>
            </a:r>
          </a:p>
          <a:p>
            <a:r>
              <a:rPr b="0" sz="950">
                <a:solidFill>
                  <a:srgbClr val="1E293B"/>
                </a:solidFill>
                <a:latin typeface="Calibri"/>
              </a:rPr>
              <a:t>data.gov.in Official Railway Timetables  ·  OpenStreetMap Overpass Rail API  ·  Open-Meteo Free Weather API  ·  CRIS COA Train Running Protocols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268580-F4FF-374F-A0CF-6BE7C4FA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1903"/>
              </p:ext>
            </p:extLst>
          </p:nvPr>
        </p:nvGraphicFramePr>
        <p:xfrm>
          <a:off x="508000" y="1371600"/>
          <a:ext cx="11176000" cy="22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38554435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661381739"/>
                    </a:ext>
                  </a:extLst>
                </a:gridCol>
              </a:tblGrid>
              <a:tr h="202921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it evidences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17573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Smart India Hackathon 2026 — PS 26028, Ministry of Railways (sih.gov.in)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Official problem definition: dynamic ETA forecasting for coaching trains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88027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CRIS &amp; ISRO RTIS Technical Whitepapers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Locomotive GPS telemetry infrastructure (GSAT/NavIC) already deployed on Indian Railways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13934"/>
                  </a:ext>
                </a:extLst>
              </a:tr>
              <a:tr h="343990">
                <a:tc>
                  <a:txBody>
                    <a:bodyPr/>
                    <a:lstStyle/>
                    <a:p>
                      <a:r>
                        <a:t>Spatio-Temporal Graph Neural Networks — IEEE &amp; Springer Research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Railway network delay propagation modeling and block headway graph foundations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19575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Indian Railways National Rail Plan (NRP 2030)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High-Density Network (HDN) corridor punctuality benchmarks &amp; operational targets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066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25E23A3-711D-07AD-F9D2-4A79E5E20065}"/>
              </a:ext>
            </a:extLst>
          </p:cNvPr>
          <p:cNvSpPr/>
          <p:nvPr/>
        </p:nvSpPr>
        <p:spPr>
          <a:xfrm>
            <a:off x="464750" y="4538880"/>
            <a:ext cx="1090973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4818" lvl="1"/>
            <a:r>
              <a:rPr b="0" sz="900">
                <a:solidFill>
                  <a:srgbClr val="2563EB"/>
                </a:solidFill>
                <a:latin typeface="Calibri"/>
              </a:rPr>
              <a:t>https://ieeexplore.ieee.org/document/10458943/</a:t>
            </a:r>
            <a:endParaRPr lang="en-US" u="sng" dirty="0">
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</a:endParaRP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https://ieeexplore.ieee.org/document/10883358/</a:t>
            </a: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https://arxiv.org/abs/1604.03169  (LightGBM — Chen &amp; Guestrin)</a:t>
            </a: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https://link.springer.com/article/10.1186/s13007-023-01122-x</a:t>
            </a: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https://www.nature.com/articles/s41598-025-18613-7</a:t>
            </a: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https://data.gov.in/catalog/indian-railways-train-time-table</a:t>
            </a:r>
          </a:p>
          <a:p>
            <a:r>
              <a:rPr b="0" sz="900">
                <a:solidFill>
                  <a:srgbClr val="2563EB"/>
                </a:solidFill>
                <a:latin typeface="Calibri"/>
              </a:rPr>
              <a:t>https://sih.gov.in/sih2026PS?domain=Railways&amp;subDomain=Smart+Automation</a:t>
            </a:r>
          </a:p>
        </p:txBody>
      </p:sp>
    </p:spTree>
    <p:extLst>
      <p:ext uri="{BB962C8B-B14F-4D97-AF65-F5344CB8AC3E}">
        <p14:creationId xmlns:p14="http://schemas.microsoft.com/office/powerpoint/2010/main" val="27198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6B80DB-08E5-294B-BF83-E5BD765AC08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17c77b5-54c3-4163-bfe1-9202f91e900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40049CD-03A7-2F41-AFFB-ED5BF1155A1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b55f6a4-f624-4eb7-8573-83f87475fa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735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Oswald</vt:lpstr>
      <vt:lpstr>Segoe UI</vt:lpstr>
      <vt:lpstr>Garamond</vt:lpstr>
      <vt:lpstr>Times New Roman</vt:lpstr>
      <vt:lpstr>Arial</vt:lpstr>
      <vt:lpstr>Office Theme</vt:lpstr>
      <vt:lpstr>TEKATHON-5.0- 2026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Karthikeyan P</cp:lastModifiedBy>
  <cp:revision>3</cp:revision>
  <dcterms:modified xsi:type="dcterms:W3CDTF">2026-09-04T03:37:30Z</dcterms:modified>
</cp:coreProperties>
</file>