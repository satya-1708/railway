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81" r:id="rId2"/>
    <p:sldId id="275" r:id="rId3"/>
    <p:sldId id="276" r:id="rId4"/>
    <p:sldId id="277" r:id="rId5"/>
    <p:sldId id="278" r:id="rId6"/>
    <p:sldId id="279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itchFamily="2" charset="77"/>
      <p:regular r:id="rId13"/>
      <p:bold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article/10.1186/s13007-023-01122-x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://arxiv.org/abs/1604.03169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ieeexplore.ieee.org/document/10883358/" TargetMode="External"/><Relationship Id="rId5" Type="http://schemas.openxmlformats.org/officeDocument/2006/relationships/hyperlink" Target="http://ieeexplore.ieee.org/document/10458943/%20http:/ieeexplore.ieee.org/document/10883358/%20Other%20Relevant%20Research%20Papers%20http:/arxiv.org/abs/1604.03169%20https:/link.springer.com/article/10.1186/s13007-023-01122-x%20https:/www.nature.com/articles/s41598-025-18613-7%20https:/academic.oup.com/jipm/article/12/1/16/6245490%20https:/pmc.ncbi.nlm.nih.gov/articles/PMC1647291/" TargetMode="External"/><Relationship Id="rId10" Type="http://schemas.openxmlformats.org/officeDocument/2006/relationships/hyperlink" Target="https://pmc.ncbi.nlm.nih.gov/articles/PMC1647291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nature.com/articles/s41598-025-18613-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ctrTitle"/>
          </p:nvPr>
        </p:nvSpPr>
        <p:spPr>
          <a:xfrm>
            <a:off x="2773050" y="298625"/>
            <a:ext cx="65520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TEKATHON-5.0- 2026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43729" y="2561719"/>
            <a:ext cx="10668000" cy="23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l">
              <a:lnSpc>
                <a:spcPct val="100000"/>
              </a:lnSpc>
              <a:spcAft>
                <a:spcPts val="1000"/>
              </a:spcAft>
              <a:buClr>
                <a:srgbClr val="F5A524"/>
              </a:buClr>
              <a:buSzPts val="1600"/>
              <a:buFont typeface="Arial"/>
              <a:buChar char="■"/>
            </a:pPr>
            <a:r>
              <a:rPr lang="en-GB" sz="1800" b="1" dirty="0">
                <a:solidFill>
                  <a:srgbClr val="0E5228"/>
                </a:solidFill>
                <a:latin typeface="Segoe UI"/>
                <a:cs typeface="Segoe UI"/>
              </a:rPr>
              <a:t>Problem Statement ID – </a:t>
            </a:r>
            <a:r>
              <a:rPr lang="en-GB" sz="1800" b="1" dirty="0">
                <a:solidFill>
                  <a:srgbClr val="E4572E"/>
                </a:solidFill>
                <a:latin typeface="Segoe UI"/>
                <a:cs typeface="Segoe UI"/>
              </a:rPr>
              <a:t>SIH26131</a:t>
            </a:r>
          </a:p>
          <a:p>
            <a:pPr marL="285750" indent="-285750" algn="l">
              <a:lnSpc>
                <a:spcPct val="100000"/>
              </a:lnSpc>
              <a:spcAft>
                <a:spcPts val="1000"/>
              </a:spcAft>
              <a:buClr>
                <a:srgbClr val="F5A524"/>
              </a:buClr>
              <a:buSzPts val="1600"/>
              <a:buFont typeface="Arial"/>
              <a:buChar char="■"/>
            </a:pPr>
            <a:r>
              <a:rPr lang="en-GB" sz="1800" b="1" dirty="0">
                <a:solidFill>
                  <a:srgbClr val="0E5228"/>
                </a:solidFill>
                <a:latin typeface="Segoe UI"/>
                <a:cs typeface="Segoe UI"/>
              </a:rPr>
              <a:t>Problem Statement Title – </a:t>
            </a:r>
            <a:r>
              <a:rPr lang="en-GB" sz="1800" b="0" dirty="0">
                <a:solidFill>
                  <a:srgbClr val="16281F"/>
                </a:solidFill>
                <a:latin typeface="Segoe UI"/>
                <a:cs typeface="Segoe UI"/>
              </a:rPr>
              <a:t>Early Detection &amp;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F5A524"/>
              </a:buClr>
              <a:buSzPts val="1600"/>
            </a:pPr>
            <a:r>
              <a:rPr lang="en-GB" sz="1800" b="0" dirty="0">
                <a:solidFill>
                  <a:srgbClr val="16281F"/>
                </a:solidFill>
                <a:latin typeface="Segoe UI"/>
                <a:cs typeface="Segoe UI"/>
              </a:rPr>
              <a:t>     Management of Crop Diseases and Pest Infestations</a:t>
            </a:r>
          </a:p>
          <a:p>
            <a:pPr marL="285750" indent="-285750" algn="l">
              <a:lnSpc>
                <a:spcPct val="100000"/>
              </a:lnSpc>
              <a:spcAft>
                <a:spcPts val="1000"/>
              </a:spcAft>
              <a:buClr>
                <a:srgbClr val="F5A524"/>
              </a:buClr>
              <a:buSzPts val="1600"/>
              <a:buFont typeface="Arial"/>
              <a:buChar char="■"/>
            </a:pPr>
            <a:r>
              <a:rPr lang="en-GB" sz="1800" b="1" dirty="0">
                <a:solidFill>
                  <a:srgbClr val="0E5228"/>
                </a:solidFill>
                <a:latin typeface="Segoe UI"/>
                <a:cs typeface="Segoe UI"/>
              </a:rPr>
              <a:t>Theme – </a:t>
            </a:r>
            <a:r>
              <a:rPr lang="en-GB" sz="1800" b="0" dirty="0">
                <a:solidFill>
                  <a:srgbClr val="16281F"/>
                </a:solidFill>
                <a:latin typeface="Segoe UI"/>
                <a:cs typeface="Segoe UI"/>
              </a:rPr>
              <a:t>Agriculture, FoodTech &amp; Rural Development</a:t>
            </a:r>
          </a:p>
          <a:p>
            <a:pPr marL="285750" indent="-285750" algn="l">
              <a:lnSpc>
                <a:spcPct val="100000"/>
              </a:lnSpc>
              <a:spcAft>
                <a:spcPts val="1000"/>
              </a:spcAft>
              <a:buClr>
                <a:srgbClr val="F5A524"/>
              </a:buClr>
              <a:buSzPts val="1600"/>
              <a:buFont typeface="Arial"/>
              <a:buChar char="■"/>
            </a:pPr>
            <a:r>
              <a:rPr lang="en-GB" sz="1800" b="1" dirty="0">
                <a:solidFill>
                  <a:srgbClr val="0E5228"/>
                </a:solidFill>
                <a:latin typeface="Segoe UI"/>
                <a:cs typeface="Segoe UI"/>
              </a:rPr>
              <a:t>PS Category – </a:t>
            </a:r>
            <a:r>
              <a:rPr lang="en-GB" sz="1800" b="0" dirty="0">
                <a:solidFill>
                  <a:srgbClr val="16281F"/>
                </a:solidFill>
                <a:latin typeface="Segoe UI"/>
                <a:cs typeface="Segoe UI"/>
              </a:rPr>
              <a:t>Software</a:t>
            </a:r>
          </a:p>
          <a:p>
            <a:pPr marL="285750" indent="-285750" algn="l">
              <a:lnSpc>
                <a:spcPct val="100000"/>
              </a:lnSpc>
              <a:spcAft>
                <a:spcPts val="0"/>
              </a:spcAft>
              <a:buClr>
                <a:srgbClr val="F5A524"/>
              </a:buClr>
              <a:buSzPts val="1600"/>
              <a:buFont typeface="Arial"/>
              <a:buChar char="■"/>
            </a:pPr>
            <a:r>
              <a:rPr lang="en-GB" sz="1800" b="1" dirty="0">
                <a:solidFill>
                  <a:srgbClr val="0E5228"/>
                </a:solidFill>
                <a:latin typeface="Segoe UI"/>
                <a:cs typeface="Segoe UI"/>
              </a:rPr>
              <a:t>Team Name </a:t>
            </a:r>
            <a:r>
              <a:rPr lang="en-GB" sz="1800" b="0" dirty="0">
                <a:solidFill>
                  <a:srgbClr val="6A4C93"/>
                </a:solidFill>
                <a:latin typeface="Segoe UI"/>
                <a:cs typeface="Segoe UI"/>
              </a:rPr>
              <a:t>(Registered on portal)</a:t>
            </a: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539F8CA-D517-080D-D329-4E8BDEFC4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50" y="1323129"/>
            <a:ext cx="3810000" cy="1084385"/>
          </a:xfrm>
          <a:prstGeom prst="rect">
            <a:avLst/>
          </a:prstGeom>
        </p:spPr>
      </p:pic>
      <p:sp>
        <p:nvSpPr>
          <p:cNvPr id="801" name="Band 1"/>
          <p:cNvSpPr/>
          <p:nvPr/>
        </p:nvSpPr>
        <p:spPr>
          <a:xfrm>
            <a:off x="0" y="6350000"/>
            <a:ext cx="3048000" cy="508000"/>
          </a:xfrm>
          <a:prstGeom prst="rect">
            <a:avLst/>
          </a:prstGeom>
          <a:solidFill>
            <a:srgbClr val="1B7A3E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802" name="Band 2"/>
          <p:cNvSpPr/>
          <p:nvPr/>
        </p:nvSpPr>
        <p:spPr>
          <a:xfrm>
            <a:off x="3048000" y="6350000"/>
            <a:ext cx="3048000" cy="508000"/>
          </a:xfrm>
          <a:prstGeom prst="rect">
            <a:avLst/>
          </a:prstGeom>
          <a:solidFill>
            <a:srgbClr val="0E8A9B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803" name="Band 3"/>
          <p:cNvSpPr/>
          <p:nvPr/>
        </p:nvSpPr>
        <p:spPr>
          <a:xfrm>
            <a:off x="6096000" y="6350000"/>
            <a:ext cx="3048000" cy="508000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804" name="Band 4"/>
          <p:cNvSpPr/>
          <p:nvPr/>
        </p:nvSpPr>
        <p:spPr>
          <a:xfrm>
            <a:off x="9144000" y="6350000"/>
            <a:ext cx="3048000" cy="5080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036DA5-5F33-5562-15F9-537B4D40B5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572" y="1548949"/>
            <a:ext cx="4804703" cy="353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endParaRPr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Idea Name Banner"/>
          <p:cNvSpPr/>
          <p:nvPr/>
        </p:nvSpPr>
        <p:spPr>
          <a:xfrm>
            <a:off x="508000" y="1371600"/>
            <a:ext cx="11176000" cy="584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lIns="114300" tIns="45720" rIns="114300" bIns="45720" anchor="ctr"/>
          <a:lstStyle/>
          <a:p>
            <a:pPr algn="ctr">
              <a:buNone/>
            </a:pPr>
            <a:r>
              <a:rPr lang="en-GB" sz="1800" b="1" dirty="0" err="1">
                <a:solidFill>
                  <a:srgbClr val="FFFFFF"/>
                </a:solidFill>
                <a:latin typeface="Arial"/>
                <a:cs typeface="Arial"/>
              </a:rPr>
              <a:t>FasalRakshak</a:t>
            </a:r>
            <a:r>
              <a:rPr lang="en-GB" sz="1800" b="1" dirty="0">
                <a:solidFill>
                  <a:srgbClr val="FFFFFF"/>
                </a:solidFill>
                <a:latin typeface="Arial"/>
                <a:cs typeface="Arial"/>
              </a:rPr>
              <a:t> AI</a:t>
            </a:r>
            <a:r>
              <a:rPr lang="en-GB" sz="1600" dirty="0">
                <a:solidFill>
                  <a:srgbClr val="C8E6C9"/>
                </a:solidFill>
                <a:latin typeface="Arial"/>
                <a:cs typeface="Arial"/>
              </a:rPr>
              <a:t>  |  Leaf photo → diagnosis → village outbreak map</a:t>
            </a:r>
          </a:p>
        </p:txBody>
      </p:sp>
      <p:sp>
        <p:nvSpPr>
          <p:cNvPr id="302" name="Card Solution"/>
          <p:cNvSpPr/>
          <p:nvPr/>
        </p:nvSpPr>
        <p:spPr>
          <a:xfrm>
            <a:off x="508000" y="2006600"/>
            <a:ext cx="3556000" cy="24638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PROPOSED SOLUTION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Leaf photo → AI diagnosis in seconds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Vision fused with weather, soil &amp; pest history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IPM-first treatment plan, multilingual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Works fully offline on-device</a:t>
            </a:r>
          </a:p>
        </p:txBody>
      </p:sp>
      <p:sp>
        <p:nvSpPr>
          <p:cNvPr id="303" name="Card Problem Fit"/>
          <p:cNvSpPr/>
          <p:nvPr/>
        </p:nvSpPr>
        <p:spPr>
          <a:xfrm>
            <a:off x="4318000" y="2006600"/>
            <a:ext cx="3556000" cy="24638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HOW IT SOLVES THE PROBLEM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Today: damage spotted only after it spreads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Officers cannot reach every field in time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Diagnosis delay: </a:t>
            </a:r>
            <a:r>
              <a:rPr lang="en-GB" sz="1400" b="1" dirty="0">
                <a:solidFill>
                  <a:srgbClr val="A64B00"/>
                </a:solidFill>
                <a:latin typeface="Arial"/>
                <a:cs typeface="Arial"/>
              </a:rPr>
              <a:t>days → seconds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Curbs excess &amp; wrong pesticide use</a:t>
            </a:r>
          </a:p>
        </p:txBody>
      </p:sp>
      <p:sp>
        <p:nvSpPr>
          <p:cNvPr id="304" name="Card Innovation"/>
          <p:cNvSpPr/>
          <p:nvPr/>
        </p:nvSpPr>
        <p:spPr>
          <a:xfrm>
            <a:off x="8128000" y="2006600"/>
            <a:ext cx="3556000" cy="24638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INNOVATION &amp; UNIQUENESS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Not photo-only: context-aware risk score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Offline-first for low-connectivity villages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Every scan feeds a live village hotspot map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Individual scans → regional early warning</a:t>
            </a:r>
          </a:p>
        </p:txBody>
      </p:sp>
      <p:sp>
        <p:nvSpPr>
          <p:cNvPr id="305" name="Edge Callout"/>
          <p:cNvSpPr/>
          <p:nvPr/>
        </p:nvSpPr>
        <p:spPr>
          <a:xfrm>
            <a:off x="508000" y="4648200"/>
            <a:ext cx="11176000" cy="13208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182880" tIns="91440" rIns="182880" bIns="91440" anchor="ctr"/>
          <a:lstStyle/>
          <a:p>
            <a:pPr algn="l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A64B00"/>
                </a:solidFill>
                <a:latin typeface="Arial"/>
                <a:cs typeface="Arial"/>
              </a:rPr>
              <a:t>OUR TECHNICAL EDGE</a:t>
            </a:r>
          </a:p>
          <a:p>
            <a:pPr algn="l">
              <a:lnSpc>
                <a:spcPct val="100000"/>
              </a:lnSpc>
              <a:buNone/>
            </a:pPr>
            <a:r>
              <a:rPr lang="en-GB" sz="1600" b="1" dirty="0">
                <a:solidFill>
                  <a:srgbClr val="1F2937"/>
                </a:solidFill>
                <a:latin typeface="Arial"/>
                <a:cs typeface="Arial"/>
              </a:rPr>
              <a:t>Context fusion  +  100% offline on-device  +  crowd-sourced village hotspot map</a:t>
            </a:r>
          </a:p>
          <a:p>
            <a:pPr algn="l">
              <a:lnSpc>
                <a:spcPct val="100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Photo-only diagnosis apps deliver none of these three.</a:t>
            </a:r>
          </a:p>
        </p:txBody>
      </p:sp>
    </p:spTree>
    <p:extLst>
      <p:ext uri="{BB962C8B-B14F-4D97-AF65-F5344CB8AC3E}">
        <p14:creationId xmlns:p14="http://schemas.microsoft.com/office/powerpoint/2010/main" val="3614700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ch Stack Strip"/>
          <p:cNvSpPr/>
          <p:nvPr/>
        </p:nvSpPr>
        <p:spPr>
          <a:xfrm>
            <a:off x="508000" y="1168400"/>
            <a:ext cx="11176000" cy="635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txBody>
          <a:bodyPr lIns="137160" tIns="45720" rIns="137160" bIns="4572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TECH STACK   </a:t>
            </a: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Flutter (offline-first app) · Python + FastAPI · TensorFlow Lite on-device CNN (MobileNetV3 transfer learning) · OpenCV · OpenWeatherMap API · PostGIS + Leaflet · PostgreSQL</a:t>
            </a:r>
          </a:p>
        </p:txBody>
      </p:sp>
      <p:sp>
        <p:nvSpPr>
          <p:cNvPr id="411" name="Step 1"/>
          <p:cNvSpPr/>
          <p:nvPr/>
        </p:nvSpPr>
        <p:spPr>
          <a:xfrm>
            <a:off x="508000" y="1922859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1  Capture &amp; Preprocess</a:t>
            </a:r>
          </a:p>
          <a:p>
            <a:pPr algn="l">
              <a:lnSpc>
                <a:spcPct val="95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OpenCV crop, background removal, lighting normalisation</a:t>
            </a:r>
          </a:p>
        </p:txBody>
      </p:sp>
      <p:sp>
        <p:nvSpPr>
          <p:cNvPr id="412" name="Step 2"/>
          <p:cNvSpPr/>
          <p:nvPr/>
        </p:nvSpPr>
        <p:spPr>
          <a:xfrm>
            <a:off x="4533900" y="1922859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2  AI Disease / Pest ID</a:t>
            </a:r>
          </a:p>
          <a:p>
            <a:pPr algn="l">
              <a:lnSpc>
                <a:spcPct val="95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CNN on PlantVillage — 54,000+ images, 38 classes, 14 crops + local images</a:t>
            </a:r>
          </a:p>
        </p:txBody>
      </p:sp>
      <p:sp>
        <p:nvSpPr>
          <p:cNvPr id="413" name="Step 3"/>
          <p:cNvSpPr/>
          <p:nvPr/>
        </p:nvSpPr>
        <p:spPr>
          <a:xfrm>
            <a:off x="8483600" y="1915319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3  Contextual Risk Fusion</a:t>
            </a:r>
          </a:p>
          <a:p>
            <a:pPr algn="l">
              <a:lnSpc>
                <a:spcPct val="95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Weather + crop stage + soil + pest history → single risk score</a:t>
            </a:r>
          </a:p>
        </p:txBody>
      </p:sp>
      <p:sp>
        <p:nvSpPr>
          <p:cNvPr id="414" name="Step 4"/>
          <p:cNvSpPr/>
          <p:nvPr/>
        </p:nvSpPr>
        <p:spPr>
          <a:xfrm>
            <a:off x="8483600" y="3469481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4  Hotspot Mapping</a:t>
            </a:r>
          </a:p>
          <a:p>
            <a:pPr algn="l">
              <a:lnSpc>
                <a:spcPct val="95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Cases plotted at village / block level; clusters auto-flag outbreaks</a:t>
            </a:r>
          </a:p>
        </p:txBody>
      </p:sp>
      <p:sp>
        <p:nvSpPr>
          <p:cNvPr id="415" name="Step 5"/>
          <p:cNvSpPr/>
          <p:nvPr/>
        </p:nvSpPr>
        <p:spPr>
          <a:xfrm>
            <a:off x="4508500" y="3512742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5  Advisory &amp; Treatment</a:t>
            </a:r>
          </a:p>
          <a:p>
            <a:pPr algn="l">
              <a:lnSpc>
                <a:spcPct val="95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Localised, multilingual, IPM-first plan — least-toxic option first</a:t>
            </a:r>
          </a:p>
        </p:txBody>
      </p:sp>
      <p:sp>
        <p:nvSpPr>
          <p:cNvPr id="416" name="Step 6"/>
          <p:cNvSpPr/>
          <p:nvPr/>
        </p:nvSpPr>
        <p:spPr>
          <a:xfrm>
            <a:off x="508000" y="3521307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6  Alerts &amp; Officer Dashboard</a:t>
            </a:r>
          </a:p>
          <a:p>
            <a:pPr algn="l">
              <a:lnSpc>
                <a:spcPct val="95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SMS / app alert to nearby farmers; severity-ranked officer queue</a:t>
            </a:r>
          </a:p>
        </p:txBody>
      </p:sp>
      <p:sp>
        <p:nvSpPr>
          <p:cNvPr id="421" name="Arrow 421"/>
          <p:cNvSpPr/>
          <p:nvPr/>
        </p:nvSpPr>
        <p:spPr>
          <a:xfrm>
            <a:off x="3733800" y="2603480"/>
            <a:ext cx="723900" cy="25400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422" name="Arrow 422"/>
          <p:cNvSpPr/>
          <p:nvPr/>
        </p:nvSpPr>
        <p:spPr>
          <a:xfrm>
            <a:off x="7759700" y="2574693"/>
            <a:ext cx="723900" cy="25400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423" name="Arrow 423"/>
          <p:cNvSpPr/>
          <p:nvPr/>
        </p:nvSpPr>
        <p:spPr>
          <a:xfrm>
            <a:off x="9880600" y="3378200"/>
            <a:ext cx="381000" cy="381000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7" name="Google Shape;117;p1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105219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8849" y="92325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Arrow 424"/>
          <p:cNvSpPr/>
          <p:nvPr/>
        </p:nvSpPr>
        <p:spPr>
          <a:xfrm>
            <a:off x="7708900" y="4026679"/>
            <a:ext cx="723900" cy="254000"/>
          </a:xfrm>
          <a:prstGeom prst="lef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425" name="Arrow 425"/>
          <p:cNvSpPr/>
          <p:nvPr/>
        </p:nvSpPr>
        <p:spPr>
          <a:xfrm>
            <a:off x="3711247" y="4083249"/>
            <a:ext cx="723900" cy="254000"/>
          </a:xfrm>
          <a:prstGeom prst="lef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 dirty="0">
              <a:solidFill>
                <a:srgbClr val="FFFFFF"/>
              </a:solidFill>
            </a:endParaRPr>
          </a:p>
        </p:txBody>
      </p:sp>
      <p:sp>
        <p:nvSpPr>
          <p:cNvPr id="431" name="Outcome Bar"/>
          <p:cNvSpPr/>
          <p:nvPr/>
        </p:nvSpPr>
        <p:spPr>
          <a:xfrm>
            <a:off x="464750" y="4985942"/>
            <a:ext cx="11176000" cy="4826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txBody>
          <a:bodyPr lIns="137160" tIns="27432" rIns="137160" bIns="27432" anchor="ctr"/>
          <a:lstStyle/>
          <a:p>
            <a:pPr algn="ctr">
              <a:buNone/>
            </a:pPr>
            <a:r>
              <a:rPr lang="en-GB" sz="1400" b="1" dirty="0">
                <a:solidFill>
                  <a:srgbClr val="A64B00"/>
                </a:solidFill>
                <a:latin typeface="Arial"/>
                <a:cs typeface="Arial"/>
              </a:rPr>
              <a:t>Steps 1–3 run entirely on-device — no internet needed for a diagnosis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D39AF-8732-2678-13BC-2728996AA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517589"/>
            <a:ext cx="10972800" cy="12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4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Stat 501"/>
          <p:cNvSpPr/>
          <p:nvPr/>
        </p:nvSpPr>
        <p:spPr>
          <a:xfrm>
            <a:off x="50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1F8E9"/>
          </a:solidFill>
          <a:ln w="19050">
            <a:solidFill>
              <a:srgbClr val="A5D6A7"/>
            </a:solidFill>
          </a:ln>
        </p:spPr>
        <p:txBody>
          <a:bodyPr lIns="91440" tIns="68580" rIns="91440" bIns="6858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sz="2400" b="1" dirty="0">
                <a:solidFill>
                  <a:srgbClr val="2E7D32"/>
                </a:solidFill>
                <a:latin typeface="Arial"/>
                <a:cs typeface="Arial"/>
              </a:rPr>
              <a:t>Zero licence cost</a:t>
            </a:r>
          </a:p>
          <a:p>
            <a:pPr algn="ctr">
              <a:lnSpc>
                <a:spcPct val="95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Free open-source stack + public PlantVillage dataset — no GPU cluster</a:t>
            </a:r>
          </a:p>
        </p:txBody>
      </p:sp>
      <p:sp>
        <p:nvSpPr>
          <p:cNvPr id="502" name="Stat 502"/>
          <p:cNvSpPr/>
          <p:nvPr/>
        </p:nvSpPr>
        <p:spPr>
          <a:xfrm>
            <a:off x="431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68580" rIns="91440" bIns="6858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sz="2400" b="1" dirty="0">
                <a:solidFill>
                  <a:srgbClr val="A64B00"/>
                </a:solidFill>
                <a:latin typeface="Arial"/>
                <a:cs typeface="Arial"/>
              </a:rPr>
              <a:t>~10M farmers/yr</a:t>
            </a:r>
          </a:p>
          <a:p>
            <a:pPr algn="ctr">
              <a:lnSpc>
                <a:spcPct val="95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Plantix already runs this solution category at scale in India</a:t>
            </a:r>
          </a:p>
        </p:txBody>
      </p:sp>
      <p:sp>
        <p:nvSpPr>
          <p:cNvPr id="503" name="Stat 503"/>
          <p:cNvSpPr/>
          <p:nvPr/>
        </p:nvSpPr>
        <p:spPr>
          <a:xfrm>
            <a:off x="812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1F8E9"/>
          </a:solidFill>
          <a:ln w="19050">
            <a:solidFill>
              <a:srgbClr val="A5D6A7"/>
            </a:solidFill>
          </a:ln>
        </p:spPr>
        <p:txBody>
          <a:bodyPr lIns="91440" tIns="68580" rIns="91440" bIns="6858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sz="2400" b="1" dirty="0">
                <a:solidFill>
                  <a:srgbClr val="2E7D32"/>
                </a:solidFill>
                <a:latin typeface="Arial"/>
                <a:cs typeface="Arial"/>
              </a:rPr>
              <a:t>Proven method</a:t>
            </a:r>
          </a:p>
          <a:p>
            <a:pPr algn="ctr">
              <a:lnSpc>
                <a:spcPct val="95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Transfer learning for leaf-disease ID is well-documented</a:t>
            </a:r>
          </a:p>
        </p:txBody>
      </p:sp>
      <p:sp>
        <p:nvSpPr>
          <p:cNvPr id="510" name="Table Label"/>
          <p:cNvSpPr/>
          <p:nvPr/>
        </p:nvSpPr>
        <p:spPr>
          <a:xfrm>
            <a:off x="508000" y="27432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RISKS &amp; MITIGATION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489BE3-A1D9-9D4D-B549-98B4FB2932B6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3048000"/>
          <a:ext cx="11176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653975293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03287669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Risk / Challenge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8787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Indian crop strains differ from PlantVillage source images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Fine-tune with local images via KVKs &amp; agricultural universities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74289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Patchy or no rural connectivity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Offline-first TFLite model on-device + SMS / IVR fallback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7466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Low farmer adoption of a new app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Integrate with WhatsApp — no new app habit required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77929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Pesticide misuse if a diagnosis is wrong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Low-confidence cases routed to human expert; IPM-first by default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53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573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1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Stat 601"/>
          <p:cNvSpPr/>
          <p:nvPr/>
        </p:nvSpPr>
        <p:spPr>
          <a:xfrm>
            <a:off x="50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54864" rIns="91440" bIns="54864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GB" sz="3200" b="1" dirty="0">
                <a:solidFill>
                  <a:srgbClr val="A64B00"/>
                </a:solidFill>
                <a:latin typeface="Arial"/>
                <a:cs typeface="Arial"/>
              </a:rPr>
              <a:t>10–30%</a:t>
            </a:r>
          </a:p>
          <a:p>
            <a:pPr algn="ctr">
              <a:lnSpc>
                <a:spcPct val="95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of India's crop yield lost every year to pests, diseases &amp; weeds</a:t>
            </a:r>
          </a:p>
        </p:txBody>
      </p:sp>
      <p:sp>
        <p:nvSpPr>
          <p:cNvPr id="602" name="Stat 602"/>
          <p:cNvSpPr/>
          <p:nvPr/>
        </p:nvSpPr>
        <p:spPr>
          <a:xfrm>
            <a:off x="431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54864" rIns="91440" bIns="54864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GB" sz="3200" b="1" dirty="0">
                <a:solidFill>
                  <a:srgbClr val="A64B00"/>
                </a:solidFill>
                <a:latin typeface="Arial"/>
                <a:cs typeface="Arial"/>
              </a:rPr>
              <a:t>US$12 Bn</a:t>
            </a:r>
          </a:p>
          <a:p>
            <a:pPr algn="ctr">
              <a:lnSpc>
                <a:spcPct val="95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estimated annual value of that loss in Indian agriculture</a:t>
            </a:r>
          </a:p>
        </p:txBody>
      </p:sp>
      <p:sp>
        <p:nvSpPr>
          <p:cNvPr id="603" name="Stat 603"/>
          <p:cNvSpPr/>
          <p:nvPr/>
        </p:nvSpPr>
        <p:spPr>
          <a:xfrm>
            <a:off x="812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54864" rIns="91440" bIns="54864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GB" sz="3200" b="1" dirty="0">
                <a:solidFill>
                  <a:srgbClr val="A64B00"/>
                </a:solidFill>
                <a:latin typeface="Arial"/>
                <a:cs typeface="Arial"/>
              </a:rPr>
              <a:t>90%+</a:t>
            </a:r>
          </a:p>
          <a:p>
            <a:pPr algn="ctr">
              <a:lnSpc>
                <a:spcPct val="95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AI diagnostic accuracy vs 60–70% for manual expert diagnosis</a:t>
            </a:r>
          </a:p>
        </p:txBody>
      </p:sp>
      <p:sp>
        <p:nvSpPr>
          <p:cNvPr id="610" name="Audience Strip"/>
          <p:cNvSpPr/>
          <p:nvPr/>
        </p:nvSpPr>
        <p:spPr>
          <a:xfrm>
            <a:off x="508000" y="2768600"/>
            <a:ext cx="11176000" cy="6096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>
            <a:noFill/>
          </a:ln>
        </p:spPr>
        <p:txBody>
          <a:bodyPr lIns="137160" tIns="36576" rIns="137160" bIns="36576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rgbClr val="FFFFFF"/>
                </a:solidFill>
                <a:latin typeface="Arial"/>
                <a:cs typeface="Arial"/>
              </a:rPr>
              <a:t>Farmers: </a:t>
            </a:r>
            <a:r>
              <a:rPr lang="en-GB" sz="1400" dirty="0">
                <a:solidFill>
                  <a:srgbClr val="E8F5E9"/>
                </a:solidFill>
                <a:latin typeface="Arial"/>
                <a:cs typeface="Arial"/>
              </a:rPr>
              <a:t>diagnosis in seconds, not days     |     </a:t>
            </a:r>
            <a:r>
              <a:rPr lang="en-GB" sz="1400" b="1" dirty="0">
                <a:solidFill>
                  <a:srgbClr val="FFFFFF"/>
                </a:solidFill>
                <a:latin typeface="Arial"/>
                <a:cs typeface="Arial"/>
              </a:rPr>
              <a:t>Extension officers: </a:t>
            </a:r>
            <a:r>
              <a:rPr lang="en-GB" sz="1400" dirty="0">
                <a:solidFill>
                  <a:srgbClr val="E8F5E9"/>
                </a:solidFill>
                <a:latin typeface="Arial"/>
                <a:cs typeface="Arial"/>
              </a:rPr>
              <a:t>live outbreak map instead of blind field visits</a:t>
            </a:r>
          </a:p>
        </p:txBody>
      </p:sp>
      <p:sp>
        <p:nvSpPr>
          <p:cNvPr id="621" name="Benefit 621"/>
          <p:cNvSpPr/>
          <p:nvPr/>
        </p:nvSpPr>
        <p:spPr>
          <a:xfrm>
            <a:off x="508000" y="3530600"/>
            <a:ext cx="3556000" cy="2184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731520" rIns="100584" bIns="6858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GB" sz="1600" b="1" dirty="0">
                <a:solidFill>
                  <a:srgbClr val="2E7D32"/>
                </a:solidFill>
                <a:latin typeface="Arial"/>
                <a:cs typeface="Arial"/>
              </a:rPr>
              <a:t>SOCIAL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Protects farmer income &amp; food security</a:t>
            </a:r>
          </a:p>
          <a:p>
            <a:pPr marL="152400" indent="-152400" algn="l">
              <a:lnSpc>
                <a:spcPct val="95000"/>
              </a:lnSpc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Disease caught before it wipes out a harvest</a:t>
            </a:r>
          </a:p>
        </p:txBody>
      </p:sp>
      <p:sp>
        <p:nvSpPr>
          <p:cNvPr id="622" name="Benefit 622"/>
          <p:cNvSpPr/>
          <p:nvPr/>
        </p:nvSpPr>
        <p:spPr>
          <a:xfrm>
            <a:off x="4318000" y="3530600"/>
            <a:ext cx="3556000" cy="2184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731520" rIns="100584" bIns="6858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GB" sz="1600" b="1" dirty="0">
                <a:solidFill>
                  <a:srgbClr val="2E7D32"/>
                </a:solidFill>
                <a:latin typeface="Arial"/>
                <a:cs typeface="Arial"/>
              </a:rPr>
              <a:t>ECONOMIC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Cuts unnecessary pesticide spend</a:t>
            </a:r>
          </a:p>
          <a:p>
            <a:pPr marL="152400" indent="-152400" algn="l">
              <a:lnSpc>
                <a:spcPct val="95000"/>
              </a:lnSpc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Reduces yield loss per acre</a:t>
            </a:r>
          </a:p>
        </p:txBody>
      </p:sp>
      <p:sp>
        <p:nvSpPr>
          <p:cNvPr id="623" name="Benefit 623"/>
          <p:cNvSpPr/>
          <p:nvPr/>
        </p:nvSpPr>
        <p:spPr>
          <a:xfrm>
            <a:off x="8128000" y="3530600"/>
            <a:ext cx="3556000" cy="2184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731520" rIns="100584" bIns="6858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GB" sz="1600" b="1" dirty="0">
                <a:solidFill>
                  <a:srgbClr val="2E7D32"/>
                </a:solidFill>
                <a:latin typeface="Arial"/>
                <a:cs typeface="Arial"/>
              </a:rPr>
              <a:t>ENVIRONMENTAL</a:t>
            </a:r>
          </a:p>
          <a:p>
            <a:pPr marL="152400" indent="-152400" algn="l">
              <a:lnSpc>
                <a:spcPct val="95000"/>
              </a:lnSpc>
              <a:spcAft>
                <a:spcPts val="400"/>
              </a:spcAft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Less blanket pesticide spraying</a:t>
            </a:r>
          </a:p>
          <a:p>
            <a:pPr marL="152400" indent="-152400" algn="l">
              <a:lnSpc>
                <a:spcPct val="95000"/>
              </a:lnSpc>
              <a:buClr>
                <a:srgbClr val="2E7D32"/>
              </a:buClr>
              <a:buFont typeface="Arial"/>
              <a:buChar char="•"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Lower chemical residue &amp; ecological harm</a:t>
            </a:r>
          </a:p>
        </p:txBody>
      </p:sp>
      <p:pic>
        <p:nvPicPr>
          <p:cNvPr id="624" name="Graphic 624" descr="Social benef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6600" y="3708400"/>
            <a:ext cx="558800" cy="558800"/>
          </a:xfrm>
          <a:prstGeom prst="rect">
            <a:avLst/>
          </a:prstGeom>
        </p:spPr>
      </p:pic>
      <p:pic>
        <p:nvPicPr>
          <p:cNvPr id="625" name="Graphic 625" descr="Economic benef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6600" y="3708400"/>
            <a:ext cx="558800" cy="558800"/>
          </a:xfrm>
          <a:prstGeom prst="rect">
            <a:avLst/>
          </a:prstGeom>
        </p:spPr>
      </p:pic>
      <p:pic>
        <p:nvPicPr>
          <p:cNvPr id="626" name="Graphic 626" descr="Environmental benef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6600" y="37084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3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Standards Strip"/>
          <p:cNvSpPr/>
          <p:nvPr/>
        </p:nvSpPr>
        <p:spPr>
          <a:xfrm>
            <a:off x="507999" y="3682589"/>
            <a:ext cx="11176000" cy="939800"/>
          </a:xfrm>
          <a:prstGeom prst="roundRect">
            <a:avLst>
              <a:gd name="adj" fmla="val 10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37160" tIns="54864" rIns="137160" bIns="54864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OPEN DATA &amp; STANDARDS USED</a:t>
            </a:r>
          </a:p>
          <a:p>
            <a:pPr algn="l">
              <a:lnSpc>
                <a:spcPct val="100000"/>
              </a:lnSpc>
              <a:buNone/>
            </a:pPr>
            <a:r>
              <a:rPr lang="en-GB" sz="1400" dirty="0">
                <a:solidFill>
                  <a:srgbClr val="1F2937"/>
                </a:solidFill>
                <a:latin typeface="Arial"/>
                <a:cs typeface="Arial"/>
              </a:rPr>
              <a:t>PlantVillage open dataset  ·  ICAR / KVK Integrated Pest Management advisories  ·  OpenWeatherMap API  ·  PostGIS geospatial standards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268580-F4FF-374F-A0CF-6BE7C4FAA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381903"/>
              </p:ext>
            </p:extLst>
          </p:nvPr>
        </p:nvGraphicFramePr>
        <p:xfrm>
          <a:off x="508000" y="1371600"/>
          <a:ext cx="11176000" cy="2203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0">
                  <a:extLst>
                    <a:ext uri="{9D8B030D-6E8A-4147-A177-3AD203B41FA5}">
                      <a16:colId xmlns:a16="http://schemas.microsoft.com/office/drawing/2014/main" val="38554435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661381739"/>
                    </a:ext>
                  </a:extLst>
                </a:gridCol>
              </a:tblGrid>
              <a:tr h="202921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 it evidences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117573"/>
                  </a:ext>
                </a:extLst>
              </a:tr>
              <a:tr h="344965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Smart India Hackathon 2026 — Problem Statement SIH26131, Govt. of Maharashtra (sih.gov.in)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Official problem definition and scope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488027"/>
                  </a:ext>
                </a:extLst>
              </a:tr>
              <a:tr h="344965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 err="1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PlantVillage</a:t>
                      </a:r>
                      <a:r>
                        <a:rPr lang="en-US" sz="1400" b="0" dirty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 Dataset — Penn State University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Training corpus for the on-device disease / pest classifier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013934"/>
                  </a:ext>
                </a:extLst>
              </a:tr>
              <a:tr h="34399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International Pest Control Magazine — crop protection in India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India's annual crop loss to pests and disease (Slide 5)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719575"/>
                  </a:ext>
                </a:extLst>
              </a:tr>
              <a:tr h="344965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GSMA Mobile for Development — Plantix case study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1F2937"/>
                          </a:solidFill>
                          <a:latin typeface="Arial"/>
                          <a:cs typeface="Arial"/>
                        </a:rPr>
                        <a:t>At-scale precedent and AI vs manual accuracy (Slides 4–5)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1066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25E23A3-711D-07AD-F9D2-4A79E5E20065}"/>
              </a:ext>
            </a:extLst>
          </p:cNvPr>
          <p:cNvSpPr/>
          <p:nvPr/>
        </p:nvSpPr>
        <p:spPr>
          <a:xfrm>
            <a:off x="464750" y="4538880"/>
            <a:ext cx="10909737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4818" lvl="1"/>
            <a:endParaRPr lang="en-US" u="sng" dirty="0">
              <a:hlinkClick r:id="rId5" tooltip="http://ieeexplore.ieee.org/document/10458943/%20http:/ieeexplore.ieee.org/document/10883358/%20Other%20Relevant%20Research%20Papers%20http:/arxiv.org/abs/1604.03169%20https:/link.springer.com/article/10.1186/s13007-023-01122-x%20https:/www.nature.com/articles/s41598-025-18613-7%20https:/academic.oup.com/jipm/article/12/1/16/6245490%20https:/pmc.ncbi.nlm.nih.gov/articles/PMC1647291/"/>
            </a:endParaRP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5" tooltip="http://ieeexplore.ieee.org/document/10458943/%20http:/ieeexplore.ieee.org/document/10883358/%20Other%20Relevant%20Research%20Papers%20http:/arxiv.org/abs/1604.03169%20https:/link.springer.com/article/10.1186/s13007-023-01122-x%20https:/www.nature.com/articles/s41598-025-18613-7%20https:/academic.oup.com/jipm/article/12/1/16/6245490%20https:/pmc.ncbi.nlm.nih.gov/articles/PMC1647291/"/>
              </a:rPr>
              <a:t>http://ieeexplore.ieee.org/document/10458943/ </a:t>
            </a: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6" tooltip="http://ieeexplore.ieee.org/document/10883358/"/>
              </a:rPr>
              <a:t>http://ieeexplore.ieee.org/document/10883358/</a:t>
            </a:r>
            <a:r>
              <a:rPr lang="en-US" dirty="0"/>
              <a:t>   </a:t>
            </a: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7" tooltip="http://arxiv.org/abs/1604.03169"/>
              </a:rPr>
              <a:t>http://arxiv.org/abs/1604.03169 </a:t>
            </a: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8" tooltip="https://link.springer.com/article/10.1186/s13007-023-01122-x"/>
              </a:rPr>
              <a:t>https://link.springer.com/article/10.1186/s13007-023-01122-x </a:t>
            </a: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9" tooltip="https://www.nature.com/articles/s41598-025-18613-7"/>
              </a:rPr>
              <a:t>https://www.nature.com/articles/s41598-025-18613-7</a:t>
            </a:r>
            <a:r>
              <a:rPr lang="en-US" dirty="0"/>
              <a:t> </a:t>
            </a: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9" tooltip="https://www.nature.com/articles/s41598-025-18613-7"/>
              </a:rPr>
              <a:t>https://academic.oup.com/jipm/article/12/1/16/6245490</a:t>
            </a:r>
            <a:r>
              <a:rPr lang="en-US" dirty="0"/>
              <a:t> </a:t>
            </a: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10" tooltip="https://pmc.ncbi.nlm.nih.gov/articles/PMC1647291/"/>
              </a:rPr>
              <a:t>https://pmc.ncbi.nlm.nih.gov/articles/PMC1647291/</a:t>
            </a:r>
          </a:p>
        </p:txBody>
      </p:sp>
    </p:spTree>
    <p:extLst>
      <p:ext uri="{BB962C8B-B14F-4D97-AF65-F5344CB8AC3E}">
        <p14:creationId xmlns:p14="http://schemas.microsoft.com/office/powerpoint/2010/main" val="2719843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66B80DB-08E5-294B-BF83-E5BD765AC08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17c77b5-54c3-4163-bfe1-9202f91e900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40049CD-03A7-2F41-AFFB-ED5BF1155A12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8b55f6a4-f624-4eb7-8573-83f87475fa1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735</Words>
  <Application>Microsoft Macintosh PowerPoint</Application>
  <PresentationFormat>Widescreen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Oswald</vt:lpstr>
      <vt:lpstr>Segoe UI</vt:lpstr>
      <vt:lpstr>Garamond</vt:lpstr>
      <vt:lpstr>Times New Roman</vt:lpstr>
      <vt:lpstr>Arial</vt:lpstr>
      <vt:lpstr>Office Theme</vt:lpstr>
      <vt:lpstr>TEKATHON-5.0- 2026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Karthikeyan P</cp:lastModifiedBy>
  <cp:revision>3</cp:revision>
  <dcterms:modified xsi:type="dcterms:W3CDTF">2026-09-04T03:37:30Z</dcterms:modified>
</cp:coreProperties>
</file>