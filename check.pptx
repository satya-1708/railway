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Garamon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Inter ExtraBold"/>
      <p:bold r:id="rId23"/>
      <p:boldItalic r:id="rId24"/>
    </p:embeddedFont>
    <p:embeddedFont>
      <p:font typeface="Oswald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8136E5-AF0E-4A25-B61D-3B319643E935}">
  <a:tblStyle styleId="{198136E5-AF0E-4A25-B61D-3B319643E93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6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Garamond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Garamond-italic.fntdata"/><Relationship Id="rId18" Type="http://schemas.openxmlformats.org/officeDocument/2006/relationships/font" Target="fonts/Garamon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60100" y="2662600"/>
            <a:ext cx="5970600" cy="279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Problem Statement ID: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26028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Problem Statement Title: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Dynamic Forecast of Expected Time of Arrival (ETA) for Coaching Trains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Theme: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Smart Automation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PS Category: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Software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Char char="●"/>
            </a:pPr>
            <a:r>
              <a:rPr b="1"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Team Name:</a:t>
            </a:r>
            <a:r>
              <a:rPr lang="en-US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HelloWorldWarriors</a:t>
            </a:r>
            <a:endParaRPr sz="2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0" y="6350000"/>
            <a:ext cx="3048000" cy="50790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048000" y="6350000"/>
            <a:ext cx="3048000" cy="507900"/>
          </a:xfrm>
          <a:prstGeom prst="rect">
            <a:avLst/>
          </a:prstGeom>
          <a:solidFill>
            <a:srgbClr val="0E8A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096000" y="6350000"/>
            <a:ext cx="3048000" cy="5079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9144000" y="6350000"/>
            <a:ext cx="3048000" cy="5079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5">
            <a:alphaModFix/>
          </a:blip>
          <a:srcRect b="35768" l="0" r="0" t="35771"/>
          <a:stretch/>
        </p:blipFill>
        <p:spPr>
          <a:xfrm>
            <a:off x="464750" y="1373563"/>
            <a:ext cx="3788525" cy="10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6">
            <a:alphaModFix/>
          </a:blip>
          <a:srcRect b="0" l="38737" r="0" t="0"/>
          <a:stretch/>
        </p:blipFill>
        <p:spPr>
          <a:xfrm>
            <a:off x="6671175" y="1637575"/>
            <a:ext cx="5220427" cy="404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2667000" y="228600"/>
            <a:ext cx="7620000" cy="7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IDEA TITLE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508000" y="1285875"/>
            <a:ext cx="11175900" cy="476400"/>
          </a:xfrm>
          <a:prstGeom prst="roundRect">
            <a:avLst>
              <a:gd fmla="val 16000" name="adj"/>
            </a:avLst>
          </a:prstGeom>
          <a:solidFill>
            <a:srgbClr val="1B5E20"/>
          </a:solidFill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RailFlow AI | Live Train + Track + Weather → AI Arrival Prediction &amp; Early Warning </a:t>
            </a:r>
            <a:endParaRPr b="0" sz="1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08000" y="1952625"/>
            <a:ext cx="3555900" cy="2952900"/>
          </a:xfrm>
          <a:prstGeom prst="roundRect">
            <a:avLst>
              <a:gd fmla="val 3870" name="adj"/>
            </a:avLst>
          </a:prstGeom>
          <a:solidFill>
            <a:srgbClr val="F9FBF9"/>
          </a:solidFill>
          <a:ln cap="flat" cmpd="sng" w="143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190500" spcFirstLastPara="1" rIns="1905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PROPOSED SOLUTION</a:t>
            </a:r>
            <a:endParaRPr b="0" sz="1300">
              <a:solidFill>
                <a:srgbClr val="1B5E2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LIVE TRAIN DATA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Location, speed, signals &amp; current delay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TRACK-AHEAD ANALYSIS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Other trains, crossings, junctions &amp; congestion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SMART ARRIVAL PREDICTION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Combines these factors to predict when the train will reach the next station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EARLY WARNINGS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Predicts upcoming delays &amp; platform conflicts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317997" y="1952625"/>
            <a:ext cx="3555900" cy="2952900"/>
          </a:xfrm>
          <a:prstGeom prst="roundRect">
            <a:avLst>
              <a:gd fmla="val 3870" name="adj"/>
            </a:avLst>
          </a:prstGeom>
          <a:solidFill>
            <a:srgbClr val="F9FBF9"/>
          </a:solidFill>
          <a:ln cap="flat" cmpd="sng" w="143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190500" spcFirstLastPara="1" rIns="1905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IT SOLVES THE PROBLEM</a:t>
            </a:r>
            <a:endParaRPr b="0" sz="1300">
              <a:solidFill>
                <a:srgbClr val="1B5E2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More accurate arrival estimates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avoids relying only on timetable and current delay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Handles changing railway conditions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adjusts predictions when traffic or route conditions change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Reduces delay surprises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predicts delay propagation before it reaches the train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Supports better decisions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gives railway staff time to manage platforms and train movement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127997" y="1952625"/>
            <a:ext cx="3555900" cy="2952900"/>
          </a:xfrm>
          <a:prstGeom prst="roundRect">
            <a:avLst>
              <a:gd fmla="val 3870" name="adj"/>
            </a:avLst>
          </a:prstGeom>
          <a:solidFill>
            <a:srgbClr val="F9FBF9"/>
          </a:solidFill>
          <a:ln cap="flat" cmpd="sng" w="143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190500" spcFirstLastPara="1" rIns="1905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INNOVATION &amp; UNIQUENESS</a:t>
            </a:r>
            <a:endParaRPr b="0" sz="1300">
              <a:solidFill>
                <a:srgbClr val="1B5E2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Looks Ahead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predicts the effect of upcoming train movements and track conditions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Delay Propagation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predicts how a delay can affect trains further ahead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Platform Clash Protection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warns staff about possible platform conflicts in advance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✦ “What-If” Simulation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lets railway staff test a routing decision before applying it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08000" y="5048250"/>
            <a:ext cx="11175900" cy="1095300"/>
          </a:xfrm>
          <a:prstGeom prst="roundRect">
            <a:avLst>
              <a:gd fmla="val 10434" name="adj"/>
            </a:avLst>
          </a:prstGeom>
          <a:solidFill>
            <a:srgbClr val="FFF8F0"/>
          </a:solidFill>
          <a:ln cap="flat" cmpd="sng" w="1905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4">
                <a:solidFill>
                  <a:srgbClr val="D843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OUR TECHNICAL EDGE</a:t>
            </a:r>
            <a:endParaRPr b="0" sz="1064">
              <a:solidFill>
                <a:srgbClr val="D8431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0A2540"/>
                </a:solidFill>
                <a:highlight>
                  <a:srgbClr val="FFE0B2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Spatial Track Graph</a:t>
            </a:r>
            <a:r>
              <a:rPr b="0" lang="en-US" sz="1388">
                <a:solidFill>
                  <a:srgbClr val="EF6C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 +  </a:t>
            </a:r>
            <a:r>
              <a:rPr b="0" lang="en-US" sz="1388">
                <a:solidFill>
                  <a:srgbClr val="0A2540"/>
                </a:solidFill>
                <a:highlight>
                  <a:srgbClr val="FFE0B2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Multi-Factor LightGBM ML</a:t>
            </a:r>
            <a:r>
              <a:rPr b="0" lang="en-US" sz="1388">
                <a:solidFill>
                  <a:srgbClr val="EF6C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 +  </a:t>
            </a:r>
            <a:r>
              <a:rPr b="0" lang="en-US" sz="1388">
                <a:solidFill>
                  <a:srgbClr val="0A2540"/>
                </a:solidFill>
                <a:highlight>
                  <a:srgbClr val="FFE0B2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Real-Time Platform Clash Resolver</a:t>
            </a:r>
            <a:endParaRPr sz="1018">
              <a:solidFill>
                <a:srgbClr val="E651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1018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Static NTES and standard tracking apps deliver none of these three advanced capabilities.</a:t>
            </a:r>
            <a:endParaRPr i="1" sz="1018">
              <a:solidFill>
                <a:srgbClr val="5F63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508000" y="1168400"/>
            <a:ext cx="11175900" cy="635100"/>
          </a:xfrm>
          <a:prstGeom prst="roundRect">
            <a:avLst>
              <a:gd fmla="val 10000" name="adj"/>
            </a:avLst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TECH STACK  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React.js / TailwindCSS · Python + FastAPI (Async) · WebSockets · LightGBM Regressor · NetworkX (Spatial Graph) · PostgreSQL + PostGIS · Open-Meteo Free Weather API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08000" y="1922851"/>
            <a:ext cx="3174900" cy="12957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1  Ingest &amp; Telemetry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ISRO NavIC / CRIS RTIS locomotive GPS stream (30s) + Open-Meteo live weather + TSR caution orders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533900" y="1922851"/>
            <a:ext cx="3174900" cy="12957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2  Spatial Track Graph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NetworkX directed railway graph — Stations = Nodes, Block Sections = Weighted Edges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8483600" y="1915324"/>
            <a:ext cx="3174900" cy="12957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3  Kinematics &amp; Headway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Rake traction physics (WAP-7, LHB) + Automatic Block Signaling block-headway constraints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8483600" y="3469477"/>
            <a:ext cx="3174900" cy="10254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4  Priority &amp; Overtakes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trailing Rajdhani / Vande Bharat and pre-calculates loop-line siding wait times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508500" y="3512748"/>
            <a:ext cx="3174900" cy="10254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5  LightGBM ETA Engine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Multi-horizon delay regression with probabilistic bounds (±4 min) using 50+ live features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08000" y="3521302"/>
            <a:ext cx="3174900" cy="1025400"/>
          </a:xfrm>
          <a:prstGeom prst="roundRect">
            <a:avLst>
              <a:gd fmla="val 7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100575" spcFirstLastPara="1" rIns="100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6  Alerts &amp; Dashboards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Sub-second WebSocket push to Passenger App, Station Master screen &amp; DRM Control Room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733800" y="2603480"/>
            <a:ext cx="723900" cy="2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759700" y="2574693"/>
            <a:ext cx="723900" cy="2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880600" y="3378200"/>
            <a:ext cx="381000" cy="381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>
            <p:ph type="title"/>
          </p:nvPr>
        </p:nvSpPr>
        <p:spPr>
          <a:xfrm>
            <a:off x="2667000" y="228600"/>
            <a:ext cx="7620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1" name="Google Shape;131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105219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8849" y="92325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7708900" y="4026679"/>
            <a:ext cx="723900" cy="254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711247" y="4083249"/>
            <a:ext cx="723900" cy="254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64750" y="4764880"/>
            <a:ext cx="11175900" cy="482700"/>
          </a:xfrm>
          <a:prstGeom prst="roundRect">
            <a:avLst>
              <a:gd fmla="val 20000" name="adj"/>
            </a:avLst>
          </a:prstGeom>
          <a:solidFill>
            <a:srgbClr val="FFF3E0"/>
          </a:solidFill>
          <a:ln cap="flat" cmpd="sng" w="1270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37150" spcFirstLastPara="1" rIns="1371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Steps 1–5 process 10,000+ trains with sub-15ms latency — entire pipeline runs on free open-source stack</a:t>
            </a:r>
            <a:endParaRPr/>
          </a:p>
        </p:txBody>
      </p:sp>
      <p:pic>
        <p:nvPicPr>
          <p:cNvPr descr="make it proper and neat and clean" id="137" name="Google Shape;13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838" y="5333900"/>
            <a:ext cx="10876724" cy="142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fmla="val 8000" name="adj"/>
            </a:avLst>
          </a:prstGeom>
          <a:solidFill>
            <a:srgbClr val="F1F8E9"/>
          </a:solidFill>
          <a:ln cap="flat" cmpd="sng" w="1905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Zero Extra Capex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100% software overlay — plugs directly into existing CRIS RTIS / ISRO NavIC GPS infrastructure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fmla="val 8000" name="adj"/>
            </a:avLst>
          </a:prstGeom>
          <a:solidFill>
            <a:srgbClr val="FFF3E0"/>
          </a:solidFill>
          <a:ln cap="flat" cmpd="sng" w="19050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10,000+ trains / 17 Zones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Async microservices handle nationwide real-time operations in under 20ms per section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fmla="val 8000" name="adj"/>
            </a:avLst>
          </a:prstGeom>
          <a:solidFill>
            <a:srgbClr val="F1F8E9"/>
          </a:solidFill>
          <a:ln cap="flat" cmpd="sng" w="1905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Proven ML Approach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Gradient Boosted Trees (LightGBM) are industry-standard for real-time tabular dispatch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08000" y="2743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RISKS &amp; MITIGATION</a:t>
            </a:r>
            <a:endParaRPr/>
          </a:p>
        </p:txBody>
      </p:sp>
      <p:graphicFrame>
        <p:nvGraphicFramePr>
          <p:cNvPr id="153" name="Google Shape;153;p16"/>
          <p:cNvGraphicFramePr/>
          <p:nvPr/>
        </p:nvGraphicFramePr>
        <p:xfrm>
          <a:off x="508000" y="30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{198136E5-AF0E-4A25-B61D-3B319643E935}</a:tableStyleId>
              </a:tblPr>
              <a:tblGrid>
                <a:gridCol w="5080000"/>
                <a:gridCol w="6096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/ Challenge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Mitigation Strategy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GPS signal lost in tunnels or remote hill sections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Physics-based Dead-Reckoning: uses last known speed, track gradient &amp; block signal timers until GPS resumes.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Sudden track block, accident or emergency signal failure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Sub-second spatial graph recalculation; delay vectors propagate instantly across all connected trains &amp; lines.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Peak telemetry burst during festival rush (Diwali / Chhath Puja)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In-memory stream buffering (Redis / SQLite) absorbs massive concurrent GPS packets with zero packet loss.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Passenger confusion over unexplained multi-hour delays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Explainable AI (XAI / SHAP) translates delay root-cause into plain Hindi / English for every passenger.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>
            <p:ph type="title"/>
          </p:nvPr>
        </p:nvSpPr>
        <p:spPr>
          <a:xfrm>
            <a:off x="2667000" y="228600"/>
            <a:ext cx="7620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1" name="Google Shape;161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508000" y="1371600"/>
            <a:ext cx="3555900" cy="1269900"/>
          </a:xfrm>
          <a:prstGeom prst="roundRect">
            <a:avLst>
              <a:gd fmla="val 9000" name="adj"/>
            </a:avLst>
          </a:prstGeom>
          <a:solidFill>
            <a:srgbClr val="FFFBEB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85%+</a:t>
            </a:r>
            <a:endParaRPr b="0" sz="3200">
              <a:solidFill>
                <a:srgbClr val="D9770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reduction in arrival prediction error</a:t>
            </a:r>
            <a:br>
              <a:rPr b="0" lang="en-US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lang="en-US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(MAE: ~28 mins → &lt; 4 mins)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317997" y="1371600"/>
            <a:ext cx="3555900" cy="1269900"/>
          </a:xfrm>
          <a:prstGeom prst="roundRect">
            <a:avLst>
              <a:gd fmla="val 9000" name="adj"/>
            </a:avLst>
          </a:prstGeom>
          <a:solidFill>
            <a:srgbClr val="FFFBEB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1.3 Billion</a:t>
            </a:r>
            <a:endParaRPr b="0" sz="2800">
              <a:solidFill>
                <a:srgbClr val="D9770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annual passenger journeys protected from platform anxiety &amp; missed connections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127997" y="1371600"/>
            <a:ext cx="3555900" cy="1269900"/>
          </a:xfrm>
          <a:prstGeom prst="roundRect">
            <a:avLst>
              <a:gd fmla="val 9000" name="adj"/>
            </a:avLst>
          </a:prstGeom>
          <a:solidFill>
            <a:srgbClr val="FFFBEB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&lt; 15 ms</a:t>
            </a:r>
            <a:endParaRPr b="0" sz="3200">
              <a:solidFill>
                <a:srgbClr val="D9770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dynamic ETA prediction latency per train section update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08000" y="2809875"/>
            <a:ext cx="11175900" cy="571500"/>
          </a:xfrm>
          <a:prstGeom prst="roundRect">
            <a:avLst>
              <a:gd fmla="val 13333" name="adj"/>
            </a:avLst>
          </a:prstGeom>
          <a:solidFill>
            <a:srgbClr val="1B5E20"/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5D6A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Passengers:</a:t>
            </a:r>
            <a:r>
              <a:rPr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real arrival range in plain words + delay reason</a:t>
            </a:r>
            <a:r>
              <a:rPr lang="en-US" sz="1100">
                <a:solidFill>
                  <a:srgbClr val="A5D6A7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0" lang="en-US" sz="1100">
                <a:solidFill>
                  <a:srgbClr val="A5D6A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Station Masters &amp; Controllers:</a:t>
            </a:r>
            <a:r>
              <a:rPr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60-min platform clash alert + What-If dispatch simulator</a:t>
            </a: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08000" y="3571875"/>
            <a:ext cx="3555900" cy="2333700"/>
          </a:xfrm>
          <a:prstGeom prst="roundRect">
            <a:avLst>
              <a:gd fmla="val 6530" name="adj"/>
            </a:avLst>
          </a:prstGeom>
          <a:solidFill>
            <a:srgbClr val="F1F8E9"/>
          </a:solidFill>
          <a:ln cap="flat" cmpd="sng" w="143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E7D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</a:t>
            </a:r>
            <a:r>
              <a:rPr b="0" lang="en-US" sz="14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OPERATIONAL</a:t>
            </a:r>
            <a:endParaRPr sz="1100">
              <a:solidFill>
                <a:srgbClr val="1B5E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Prevents junction platform gridlocks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Synchronizes rake cleaning, watering &amp; crew changeover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317997" y="3571875"/>
            <a:ext cx="3555900" cy="2333700"/>
          </a:xfrm>
          <a:prstGeom prst="roundRect">
            <a:avLst>
              <a:gd fmla="val 6530" name="adj"/>
            </a:avLst>
          </a:prstGeom>
          <a:solidFill>
            <a:srgbClr val="F1F8E9"/>
          </a:solidFill>
          <a:ln cap="flat" cmpd="sng" w="143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E7D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trending_up</a:t>
            </a:r>
            <a:r>
              <a:rPr b="0" lang="en-US" sz="14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ECONOMIC</a:t>
            </a:r>
            <a:endParaRPr sz="1100">
              <a:solidFill>
                <a:srgbClr val="1B5E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Cuts idle traction power waste from unnecessary stoppages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Reduces crew overtime costs &amp; turnaround time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127997" y="3571875"/>
            <a:ext cx="3555900" cy="2333700"/>
          </a:xfrm>
          <a:prstGeom prst="roundRect">
            <a:avLst>
              <a:gd fmla="val 6530" name="adj"/>
            </a:avLst>
          </a:prstGeom>
          <a:solidFill>
            <a:srgbClr val="F1F8E9"/>
          </a:solidFill>
          <a:ln cap="flat" cmpd="sng" w="143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E7D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r>
              <a:rPr b="0" lang="en-US" sz="1400">
                <a:solidFill>
                  <a:srgbClr val="1B5E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SOCIAL</a:t>
            </a:r>
            <a:endParaRPr sz="1100">
              <a:solidFill>
                <a:srgbClr val="1B5E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Restores commuter trust in railway punctuality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7D32"/>
                </a:solidFill>
                <a:latin typeface="Inter Medium"/>
                <a:ea typeface="Inter Medium"/>
                <a:cs typeface="Inter Medium"/>
                <a:sym typeface="Inter Medium"/>
              </a:rPr>
              <a:t>✦</a:t>
            </a:r>
            <a:r>
              <a:rPr b="0" lang="en-US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Eliminates dangerous overcrowding from wrong-platform rushes</a:t>
            </a:r>
            <a:endParaRPr b="0" sz="1100">
              <a:solidFill>
                <a:srgbClr val="3341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9" name="Google Shape;179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" name="Google Shape;180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title="craz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507999" y="3682589"/>
            <a:ext cx="11176000" cy="939800"/>
          </a:xfrm>
          <a:prstGeom prst="roundRect">
            <a:avLst>
              <a:gd fmla="val 10000" name="adj"/>
            </a:avLst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37150" spcFirstLastPara="1" rIns="1371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OPEN DATA &amp; STANDARDS USED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data.gov.in Official Railway Timetables  ·  OpenStreetMap Overpass Rail API  ·  Open-Meteo Free Weather API  ·  CRIS COA Train Running Protocols</a:t>
            </a:r>
            <a:endParaRPr/>
          </a:p>
        </p:txBody>
      </p:sp>
      <p:graphicFrame>
        <p:nvGraphicFramePr>
          <p:cNvPr id="184" name="Google Shape;184;p18"/>
          <p:cNvGraphicFramePr/>
          <p:nvPr/>
        </p:nvGraphicFramePr>
        <p:xfrm>
          <a:off x="5080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{198136E5-AF0E-4A25-B61D-3B319643E935}</a:tableStyleId>
              </a:tblPr>
              <a:tblGrid>
                <a:gridCol w="6604000"/>
                <a:gridCol w="4572000"/>
              </a:tblGrid>
              <a:tr h="2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evidences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4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Smart India Hackathon 2026 — PS 26028, Ministry of Railways (sih.gov.in)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Official problem definition: dynamic ETA forecasting for coaching trains on Indian Railways.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</a:tr>
              <a:tr h="34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 &amp; ISRO RTIS Technical Whitepapers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Locomotive GPS telemetry infrastructure (GSAT/NavIC) already deployed across Indian Railways.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Spatio-Temporal Graph Neural Networks — IEEE &amp; Springer Research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Railway network delay propagation modeling and block headway graph theoretical foundations.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1F8E9"/>
                    </a:solidFill>
                  </a:tcPr>
                </a:tc>
              </a:tr>
              <a:tr h="34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Railways National Rail Plan (NRP 2030)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High-Density Network (HDN) corridor punctuality benchmarks &amp; operational dispatch targets.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8"/>
          <p:cNvSpPr/>
          <p:nvPr/>
        </p:nvSpPr>
        <p:spPr>
          <a:xfrm>
            <a:off x="464750" y="4538880"/>
            <a:ext cx="10909737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2848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https://sih.gov.in/sih2026PS — Smart India Hackathon Official Problem Portal (PS 26028)</a:t>
            </a:r>
            <a:endParaRPr b="0" i="0" sz="14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https://data.gov.in/catalog/indian-railways-train-time-table — National Open Data Portal Timetable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https://overpass-api.de — OpenStreetMap Railway Network &amp; Geometry Infrastructure API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https://open-meteo.com — High-Resolution Free Weather Forecast &amp; Visibility API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https://ieeexplore.ieee.org/document/10458943/ — IEEE Graph Neural Networks for Railway Delays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https://arxiv.org/abs/1604.03169 — LightGBM Fast Gradient Boosted Decision Tree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https://shap.readthedocs.io — SHAP Framework for Machine Learning Explainability (XAI)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