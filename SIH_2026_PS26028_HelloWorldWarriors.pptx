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6.svg" ContentType="image/svg+xml"/>
  <Override PartName="/ppt/media/image7.svg" ContentType="image/svg+xml"/>
  <Override PartName="/ppt/media/image8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  <Override PartName="/ppt/webextensions/taskpanes.xml" ContentType="application/vnd.ms-office.webextensiontaskpanes+xml"/>
  <Override PartName="/ppt/webextensions/webextension1.xml" ContentType="application/vnd.ms-office.webextension+xml"/>
  <Override PartName="/ppt/webextensions/webextension2.xml" ContentType="application/vnd.ms-office.webextension+xml"/>
</Types>
</file>

<file path=_rels/.rels><?xml version='1.0' encoding='UTF-8' standalone='yes'?>
<Relationships xmlns="http://schemas.openxmlformats.org/package/2006/relationships"><Relationship Id="rId1" Type="http://schemas.microsoft.com/office/2011/relationships/webextensiontaskpanes" Target="ppt/webextensions/taskpanes.xml"/><Relationship Id="rId2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59" r:id="rId1"/>
  </p:sldMasterIdLst>
  <p:notesMasterIdLst>
    <p:notesMasterId r:id="rId8"/>
  </p:notesMasterIdLst>
  <p:sldIdLst>
    <p:sldId id="281" r:id="rId2"/>
    <p:sldId id="275" r:id="rId3"/>
    <p:sldId id="276" r:id="rId4"/>
    <p:sldId id="277" r:id="rId5"/>
    <p:sldId id="278" r:id="rId6"/>
    <p:sldId id="279" r:id="rId7"/>
  </p:sldIdLst>
  <p:sldSz cx="12192000" cy="6858000"/>
  <p:notesSz cx="6858000" cy="9144000"/>
  <p:embeddedFontLst>
    <p:embeddedFont>
      <p:font typeface="Garamond" panose="02020404030301010803" pitchFamily="18" charset="0"/>
      <p:regular r:id="rId9"/>
      <p:bold r:id="rId10"/>
      <p:italic r:id="rId11"/>
      <p:boldItalic r:id="rId12"/>
    </p:embeddedFont>
    <p:embeddedFont>
      <p:font typeface="Oswald" pitchFamily="2" charset="77"/>
      <p:regular r:id="rId13"/>
      <p:bold r:id="rId14"/>
    </p:embeddedFont>
    <p:embeddedFont>
      <p:font typeface="Segoe UI" panose="020B0502040204020203" pitchFamily="34" charset="0"/>
      <p:regular r:id="rId15"/>
      <p:bold r:id="rId16"/>
      <p:italic r:id="rId17"/>
      <p:boldItalic r:id="rId1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534"/>
    <p:restoredTop sz="94694"/>
  </p:normalViewPr>
  <p:slideViewPr>
    <p:cSldViewPr snapToGrid="0">
      <p:cViewPr varScale="1">
        <p:scale>
          <a:sx n="121" d="100"/>
          <a:sy n="121" d="100"/>
        </p:scale>
        <p:origin x="392" y="17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font" Target="fonts/font1.fntdata"/><Relationship Id="rId10" Type="http://schemas.openxmlformats.org/officeDocument/2006/relationships/font" Target="fonts/font2.fntdata"/><Relationship Id="rId11" Type="http://schemas.openxmlformats.org/officeDocument/2006/relationships/font" Target="fonts/font3.fntdata"/><Relationship Id="rId12" Type="http://schemas.openxmlformats.org/officeDocument/2006/relationships/font" Target="fonts/font4.fntdata"/><Relationship Id="rId13" Type="http://schemas.openxmlformats.org/officeDocument/2006/relationships/font" Target="fonts/font5.fntdata"/><Relationship Id="rId14" Type="http://schemas.openxmlformats.org/officeDocument/2006/relationships/font" Target="fonts/font6.fntdata"/><Relationship Id="rId15" Type="http://schemas.openxmlformats.org/officeDocument/2006/relationships/font" Target="fonts/font7.fntdata"/><Relationship Id="rId16" Type="http://schemas.openxmlformats.org/officeDocument/2006/relationships/font" Target="fonts/font8.fntdata"/><Relationship Id="rId17" Type="http://schemas.openxmlformats.org/officeDocument/2006/relationships/font" Target="fonts/font9.fntdata"/><Relationship Id="rId18" Type="http://schemas.openxmlformats.org/officeDocument/2006/relationships/font" Target="fonts/font10.fntdata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" name="Google Shape;8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96" name="Google Shape;96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97" name="Google Shape;97;p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108" name="Google Shape;108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9" name="Google Shape;109;p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122" name="Google Shape;122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3" name="Google Shape;123;p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4</a:t>
            </a:fld>
            <a:endParaRPr sz="12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136" name="Google Shape;136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7" name="Google Shape;137;p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5</a:t>
            </a:fld>
            <a:endParaRPr sz="12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150" name="Google Shape;150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51" name="Google Shape;151;p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6</a:t>
            </a:fld>
            <a:endParaRPr sz="12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"/>
          <p:cNvSpPr txBox="1"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2"/>
          <p:cNvSpPr txBox="1"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2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2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2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"/>
          <p:cNvSpPr txBox="1">
            <a:spLocks noGrp="1"/>
          </p:cNvSpPr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3"/>
          <p:cNvSpPr txBox="1">
            <a:spLocks noGrp="1"/>
          </p:cNvSpPr>
          <p:nvPr>
            <p:ph type="body" idx="1"/>
          </p:nvPr>
        </p:nvSpPr>
        <p:spPr>
          <a:xfrm>
            <a:off x="609600" y="1095375"/>
            <a:ext cx="10972800" cy="5030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3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3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3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4"/>
          <p:cNvSpPr txBox="1"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cap="none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4"/>
          <p:cNvSpPr txBox="1"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4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4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4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5"/>
          <p:cNvSpPr txBox="1">
            <a:spLocks noGrp="1"/>
          </p:cNvSpPr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5"/>
          <p:cNvSpPr txBox="1">
            <a:spLocks noGrp="1"/>
          </p:cNvSpPr>
          <p:nvPr>
            <p:ph type="body" idx="1"/>
          </p:nvPr>
        </p:nvSpPr>
        <p:spPr>
          <a:xfrm>
            <a:off x="609600" y="1600203"/>
            <a:ext cx="53848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5"/>
          <p:cNvSpPr txBox="1">
            <a:spLocks noGrp="1"/>
          </p:cNvSpPr>
          <p:nvPr>
            <p:ph type="body" idx="2"/>
          </p:nvPr>
        </p:nvSpPr>
        <p:spPr>
          <a:xfrm>
            <a:off x="6197600" y="1600203"/>
            <a:ext cx="53848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5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5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5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6"/>
          <p:cNvSpPr txBox="1">
            <a:spLocks noGrp="1"/>
          </p:cNvSpPr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6"/>
          <p:cNvSpPr txBox="1"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6"/>
          <p:cNvSpPr txBox="1">
            <a:spLocks noGrp="1"/>
          </p:cNvSpPr>
          <p:nvPr>
            <p:ph type="body" idx="2"/>
          </p:nvPr>
        </p:nvSpPr>
        <p:spPr>
          <a:xfrm>
            <a:off x="609600" y="2174875"/>
            <a:ext cx="5386917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6"/>
          <p:cNvSpPr txBox="1">
            <a:spLocks noGrp="1"/>
          </p:cNvSpPr>
          <p:nvPr>
            <p:ph type="body" idx="3"/>
          </p:nvPr>
        </p:nvSpPr>
        <p:spPr>
          <a:xfrm>
            <a:off x="6193369" y="1535113"/>
            <a:ext cx="5389033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6"/>
          <p:cNvSpPr txBox="1">
            <a:spLocks noGrp="1"/>
          </p:cNvSpPr>
          <p:nvPr>
            <p:ph type="body" idx="4"/>
          </p:nvPr>
        </p:nvSpPr>
        <p:spPr>
          <a:xfrm>
            <a:off x="6193369" y="2174875"/>
            <a:ext cx="5389033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6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6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6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7"/>
          <p:cNvSpPr txBox="1">
            <a:spLocks noGrp="1"/>
          </p:cNvSpPr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7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7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7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8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8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8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9"/>
          <p:cNvSpPr txBox="1"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body" idx="1"/>
          </p:nvPr>
        </p:nvSpPr>
        <p:spPr>
          <a:xfrm>
            <a:off x="4766733" y="273053"/>
            <a:ext cx="6815667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1" name="Google Shape;61;p9"/>
          <p:cNvSpPr txBox="1">
            <a:spLocks noGrp="1"/>
          </p:cNvSpPr>
          <p:nvPr>
            <p:ph type="body" idx="2"/>
          </p:nvPr>
        </p:nvSpPr>
        <p:spPr>
          <a:xfrm>
            <a:off x="609602" y="1435103"/>
            <a:ext cx="4011084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2" name="Google Shape;62;p9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9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9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0"/>
          <p:cNvSpPr txBox="1"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>
            <a:spLocks noGrp="1"/>
          </p:cNvSpPr>
          <p:nvPr>
            <p:ph type="pic" idx="2"/>
          </p:nvPr>
        </p:nvSpPr>
        <p:spPr>
          <a:xfrm>
            <a:off x="2389717" y="612775"/>
            <a:ext cx="73152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10"/>
          <p:cNvSpPr txBox="1">
            <a:spLocks noGrp="1"/>
          </p:cNvSpPr>
          <p:nvPr>
            <p:ph type="body" idx="1"/>
          </p:nvPr>
        </p:nvSpPr>
        <p:spPr>
          <a:xfrm>
            <a:off x="2389717" y="5367338"/>
            <a:ext cx="73152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9" name="Google Shape;69;p10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0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10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1"/>
          <p:cNvSpPr txBox="1">
            <a:spLocks noGrp="1"/>
          </p:cNvSpPr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11"/>
          <p:cNvSpPr txBox="1">
            <a:spLocks noGrp="1"/>
          </p:cNvSpPr>
          <p:nvPr>
            <p:ph type="body" idx="1"/>
          </p:nvPr>
        </p:nvSpPr>
        <p:spPr>
          <a:xfrm rot="5400000">
            <a:off x="3580606" y="-1875631"/>
            <a:ext cx="5030788" cy="1097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5" name="Google Shape;75;p11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1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11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2"/>
          <p:cNvSpPr txBox="1">
            <a:spLocks noGrp="1"/>
          </p:cNvSpPr>
          <p:nvPr>
            <p:ph type="title"/>
          </p:nvPr>
        </p:nvSpPr>
        <p:spPr>
          <a:xfrm rot="5400000">
            <a:off x="7285038" y="1828804"/>
            <a:ext cx="5851525" cy="274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12"/>
          <p:cNvSpPr txBox="1">
            <a:spLocks noGrp="1"/>
          </p:cNvSpPr>
          <p:nvPr>
            <p:ph type="body" idx="1"/>
          </p:nvPr>
        </p:nvSpPr>
        <p:spPr>
          <a:xfrm rot="5400000">
            <a:off x="1697038" y="-812796"/>
            <a:ext cx="5851525" cy="802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1" name="Google Shape;81;p12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12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12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>
            <a:spLocks noGrp="1"/>
          </p:cNvSpPr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marR="0"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marR="0"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marR="0"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marR="0"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endParaRPr/>
          </a:p>
        </p:txBody>
      </p:sp>
      <p:sp>
        <p:nvSpPr>
          <p:cNvPr id="11" name="Google Shape;11;p1"/>
          <p:cNvSpPr txBox="1">
            <a:spLocks noGrp="1"/>
          </p:cNvSpPr>
          <p:nvPr>
            <p:ph type="body" idx="1"/>
          </p:nvPr>
        </p:nvSpPr>
        <p:spPr>
          <a:xfrm>
            <a:off x="609600" y="1095375"/>
            <a:ext cx="10972800" cy="5030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1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1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1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L="0" marR="0" lvl="1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marL="0" marR="0" lvl="2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marL="0" marR="0" lvl="3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marL="0" marR="0" lvl="4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marL="0" marR="0" lvl="5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marL="0" marR="0" lvl="6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marL="0" marR="0" lvl="7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marL="0" marR="0" lvl="8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4.png"/><Relationship Id="rId7" Type="http://schemas.openxmlformats.org/officeDocument/2006/relationships/image" Target="../media/image9.png"/><Relationship Id="rId8" Type="http://schemas.openxmlformats.org/officeDocument/2006/relationships/image" Target="../media/image10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5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6.svg"/><Relationship Id="rId6" Type="http://schemas.openxmlformats.org/officeDocument/2006/relationships/image" Target="../media/image7.svg"/><Relationship Id="rId7" Type="http://schemas.openxmlformats.org/officeDocument/2006/relationships/image" Target="../media/image8.sv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hyperlink" Target="http://ieeexplore.ieee.org/document/10458943/%20http:/ieeexplore.ieee.org/document/10883358/%20Other%20Relevant%20Research%20Papers%20http:/arxiv.org/abs/1604.03169%20https:/link.springer.com/article/10.1186/s13007-023-01122-x%20https:/www.nature.com/articles/s41598-025-18613-7%20https:/academic.oup.com/jipm/article/12/1/16/6245490%20https:/pmc.ncbi.nlm.nih.gov/articles/PMC1647291/" TargetMode="External"/><Relationship Id="rId6" Type="http://schemas.openxmlformats.org/officeDocument/2006/relationships/hyperlink" Target="http://ieeexplore.ieee.org/document/10883358/" TargetMode="External"/><Relationship Id="rId7" Type="http://schemas.openxmlformats.org/officeDocument/2006/relationships/hyperlink" Target="http://arxiv.org/abs/1604.03169" TargetMode="External"/><Relationship Id="rId8" Type="http://schemas.openxmlformats.org/officeDocument/2006/relationships/hyperlink" Target="https://link.springer.com/article/10.1186/s13007-023-01122-x" TargetMode="External"/><Relationship Id="rId9" Type="http://schemas.openxmlformats.org/officeDocument/2006/relationships/hyperlink" Target="https://www.nature.com/articles/s41598-025-18613-7" TargetMode="External"/><Relationship Id="rId10" Type="http://schemas.openxmlformats.org/officeDocument/2006/relationships/hyperlink" Target="https://pmc.ncbi.nlm.nih.gov/articles/PMC1647291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3"/>
          <p:cNvSpPr/>
          <p:nvPr/>
        </p:nvSpPr>
        <p:spPr>
          <a:xfrm>
            <a:off x="1524000" y="0"/>
            <a:ext cx="9144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13"/>
          <p:cNvSpPr txBox="1">
            <a:spLocks noGrp="1"/>
          </p:cNvSpPr>
          <p:nvPr>
            <p:ph type="ctrTitle"/>
          </p:nvPr>
        </p:nvSpPr>
        <p:spPr>
          <a:xfrm>
            <a:off x="2773050" y="298625"/>
            <a:ext cx="6552000" cy="87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>
                <a:solidFill>
                  <a:schemeClr val="dk2"/>
                </a:solidFill>
                <a:latin typeface="Garamond"/>
                <a:ea typeface="Garamond"/>
                <a:cs typeface="Garamond"/>
                <a:sym typeface="Garamond"/>
              </a:rPr>
              <a:t>TEKATHON-5.0- 2026</a:t>
            </a:r>
            <a:endParaRPr sz="4000" b="1">
              <a:solidFill>
                <a:schemeClr val="dk2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  <p:sp>
        <p:nvSpPr>
          <p:cNvPr id="91" name="Google Shape;91;p13"/>
          <p:cNvSpPr txBox="1"/>
          <p:nvPr/>
        </p:nvSpPr>
        <p:spPr>
          <a:xfrm>
            <a:off x="443729" y="2377440"/>
            <a:ext cx="5943600" cy="3474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indent="-285750" algn="l">
              <a:lnSpc>
                <a:spcPct val="100000"/>
              </a:lnSpc>
              <a:spcAft>
                <a:spcPts val="800"/>
              </a:spcAft>
              <a:buClr>
                <a:srgbClr val="F5A524"/>
              </a:buClr>
              <a:buSzPts val="1600"/>
              <a:buFont typeface="Arial"/>
              <a:buChar char="■"/>
            </a:pPr>
            <a:r>
              <a:rPr b="1" sz="1300">
                <a:solidFill>
                  <a:srgbClr val="0A2540"/>
                </a:solidFill>
                <a:latin typeface="Calibri"/>
              </a:rPr>
              <a:t>Problem Statement ID – </a:t>
            </a:r>
            <a:r>
              <a:rPr b="1" sz="1300">
                <a:solidFill>
                  <a:srgbClr val="DC2626"/>
                </a:solidFill>
                <a:latin typeface="Calibri"/>
              </a:rPr>
              <a:t>26028</a:t>
            </a:r>
          </a:p>
          <a:p>
            <a:pPr>
              <a:spcAft>
                <a:spcPts val="800"/>
              </a:spcAft>
            </a:pPr>
            <a:r>
              <a:rPr b="1" sz="1300">
                <a:solidFill>
                  <a:srgbClr val="0A2540"/>
                </a:solidFill>
                <a:latin typeface="Calibri"/>
              </a:rPr>
              <a:t>Problem Statement Title – </a:t>
            </a:r>
            <a:r>
              <a:rPr b="0" sz="1300">
                <a:solidFill>
                  <a:srgbClr val="1E293B"/>
                </a:solidFill>
                <a:latin typeface="Calibri"/>
              </a:rPr>
              <a:t>Dynamic Forecast of Expected Time of Arrival (ETA) for Coaching Trains</a:t>
            </a:r>
          </a:p>
          <a:p>
            <a:pPr>
              <a:spcAft>
                <a:spcPts val="800"/>
              </a:spcAft>
            </a:pPr>
            <a:r>
              <a:rPr b="1" sz="1300">
                <a:solidFill>
                  <a:srgbClr val="0A2540"/>
                </a:solidFill>
                <a:latin typeface="Calibri"/>
              </a:rPr>
              <a:t>Theme – </a:t>
            </a:r>
            <a:r>
              <a:rPr b="0" sz="1300">
                <a:solidFill>
                  <a:srgbClr val="1E293B"/>
                </a:solidFill>
                <a:latin typeface="Calibri"/>
              </a:rPr>
              <a:t>Smart Automation</a:t>
            </a:r>
          </a:p>
          <a:p>
            <a:pPr>
              <a:spcAft>
                <a:spcPts val="800"/>
              </a:spcAft>
            </a:pPr>
            <a:r>
              <a:rPr b="1" sz="1300">
                <a:solidFill>
                  <a:srgbClr val="0A2540"/>
                </a:solidFill>
                <a:latin typeface="Calibri"/>
              </a:rPr>
              <a:t>PS Category – </a:t>
            </a:r>
            <a:r>
              <a:rPr b="0" sz="1300">
                <a:solidFill>
                  <a:srgbClr val="1E293B"/>
                </a:solidFill>
                <a:latin typeface="Calibri"/>
              </a:rPr>
              <a:t>Software</a:t>
            </a:r>
          </a:p>
          <a:p>
            <a:pPr>
              <a:spcAft>
                <a:spcPts val="800"/>
              </a:spcAft>
            </a:pPr>
            <a:r>
              <a:rPr b="1" sz="1300">
                <a:solidFill>
                  <a:srgbClr val="0A2540"/>
                </a:solidFill>
                <a:latin typeface="Calibri"/>
              </a:rPr>
              <a:t>Ministry – </a:t>
            </a:r>
            <a:r>
              <a:rPr b="0" sz="1300">
                <a:solidFill>
                  <a:srgbClr val="1E293B"/>
                </a:solidFill>
                <a:latin typeface="Calibri"/>
              </a:rPr>
              <a:t>Ministry of Railways / Indian Railways</a:t>
            </a:r>
          </a:p>
          <a:p>
            <a:pPr>
              <a:spcAft>
                <a:spcPts val="800"/>
              </a:spcAft>
            </a:pPr>
            <a:r>
              <a:rPr b="1" sz="1300">
                <a:solidFill>
                  <a:srgbClr val="0A2540"/>
                </a:solidFill>
                <a:latin typeface="Calibri"/>
              </a:rPr>
              <a:t>Team Name – </a:t>
            </a:r>
            <a:r>
              <a:rPr b="1" sz="1300">
                <a:solidFill>
                  <a:srgbClr val="0284C7"/>
                </a:solidFill>
                <a:latin typeface="Calibri"/>
              </a:rPr>
              <a:t>HelloWorldWarriors</a:t>
            </a:r>
          </a:p>
        </p:txBody>
      </p:sp>
      <p:pic>
        <p:nvPicPr>
          <p:cNvPr id="92" name="Google Shape;92;p13"/>
          <p:cNvPicPr preferRelativeResize="0"/>
          <p:nvPr/>
        </p:nvPicPr>
        <p:blipFill rotWithShape="1">
          <a:blip r:embed="rId3">
            <a:alphaModFix/>
          </a:blip>
          <a:srcRect l="9212" t="14430" r="7717" b="15488"/>
          <a:stretch/>
        </p:blipFill>
        <p:spPr>
          <a:xfrm>
            <a:off x="464750" y="298625"/>
            <a:ext cx="2040401" cy="870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3" name="Google Shape;93;p13" title="crazy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377525" y="298623"/>
            <a:ext cx="1167750" cy="1025275"/>
          </a:xfrm>
          <a:prstGeom prst="rect">
            <a:avLst/>
          </a:prstGeom>
          <a:noFill/>
          <a:ln>
            <a:noFill/>
          </a:ln>
        </p:spPr>
      </p:pic>
      <p:sp>
        <p:nvSpPr>
          <p:cNvPr id="801" name="Band 1"/>
          <p:cNvSpPr/>
          <p:nvPr/>
        </p:nvSpPr>
        <p:spPr>
          <a:xfrm>
            <a:off x="0" y="6350000"/>
            <a:ext cx="3048000" cy="508000"/>
          </a:xfrm>
          <a:prstGeom prst="rect">
            <a:avLst/>
          </a:prstGeom>
          <a:solidFill>
            <a:srgbClr val="1B7A3E"/>
          </a:solidFill>
          <a:ln>
            <a:noFill/>
          </a:ln>
        </p:spPr>
        <p:txBody>
          <a:bodyPr/>
          <a:lstStyle/>
          <a:p>
            <a:endParaRPr lang="en-GB" sz="1400">
              <a:solidFill>
                <a:srgbClr val="FFFFFF"/>
              </a:solidFill>
            </a:endParaRPr>
          </a:p>
        </p:txBody>
      </p:sp>
      <p:sp>
        <p:nvSpPr>
          <p:cNvPr id="802" name="Band 2"/>
          <p:cNvSpPr/>
          <p:nvPr/>
        </p:nvSpPr>
        <p:spPr>
          <a:xfrm>
            <a:off x="3048000" y="6350000"/>
            <a:ext cx="3048000" cy="508000"/>
          </a:xfrm>
          <a:prstGeom prst="rect">
            <a:avLst/>
          </a:prstGeom>
          <a:solidFill>
            <a:srgbClr val="0E8A9B"/>
          </a:solidFill>
          <a:ln>
            <a:noFill/>
          </a:ln>
        </p:spPr>
        <p:txBody>
          <a:bodyPr/>
          <a:lstStyle/>
          <a:p>
            <a:endParaRPr lang="en-GB" sz="1400">
              <a:solidFill>
                <a:srgbClr val="FFFFFF"/>
              </a:solidFill>
            </a:endParaRPr>
          </a:p>
        </p:txBody>
      </p:sp>
      <p:sp>
        <p:nvSpPr>
          <p:cNvPr id="803" name="Band 3"/>
          <p:cNvSpPr/>
          <p:nvPr/>
        </p:nvSpPr>
        <p:spPr>
          <a:xfrm>
            <a:off x="6096000" y="6350000"/>
            <a:ext cx="3048000" cy="508000"/>
          </a:xfrm>
          <a:prstGeom prst="rect">
            <a:avLst/>
          </a:prstGeom>
          <a:solidFill>
            <a:srgbClr val="F5A524"/>
          </a:solidFill>
          <a:ln>
            <a:noFill/>
          </a:ln>
        </p:spPr>
        <p:txBody>
          <a:bodyPr/>
          <a:lstStyle/>
          <a:p>
            <a:endParaRPr lang="en-GB" sz="1400">
              <a:solidFill>
                <a:srgbClr val="FFFFFF"/>
              </a:solidFill>
            </a:endParaRPr>
          </a:p>
        </p:txBody>
      </p:sp>
      <p:sp>
        <p:nvSpPr>
          <p:cNvPr id="804" name="Band 4"/>
          <p:cNvSpPr/>
          <p:nvPr/>
        </p:nvSpPr>
        <p:spPr>
          <a:xfrm>
            <a:off x="9144000" y="6350000"/>
            <a:ext cx="3048000" cy="508000"/>
          </a:xfrm>
          <a:prstGeom prst="rect">
            <a:avLst/>
          </a:prstGeom>
          <a:solidFill>
            <a:srgbClr val="E4572E"/>
          </a:solidFill>
          <a:ln>
            <a:noFill/>
          </a:ln>
        </p:spPr>
        <p:txBody>
          <a:bodyPr/>
          <a:lstStyle/>
          <a:p>
            <a:endParaRPr lang="en-GB" sz="1400">
              <a:solidFill>
                <a:srgbClr val="FFFFFF"/>
              </a:solidFill>
            </a:endParaRPr>
          </a:p>
        </p:txBody>
      </p:sp>
      <p:pic>
        <p:nvPicPr>
          <p:cNvPr id="805" name="Picture 804" descr="railflow_logo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4750" y="1323129"/>
            <a:ext cx="3810000" cy="1084385"/>
          </a:xfrm>
          <a:prstGeom prst="rect">
            <a:avLst/>
          </a:prstGeom>
        </p:spPr>
      </p:pic>
      <p:pic>
        <p:nvPicPr>
          <p:cNvPr id="806" name="Picture 805" descr="railway_hero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740572" y="1548949"/>
            <a:ext cx="4804703" cy="35370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00983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4"/>
          <p:cNvSpPr/>
          <p:nvPr/>
        </p:nvSpPr>
        <p:spPr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>
            <a:noFill/>
          </a:ln>
          <a:effectLst>
            <a:outerShdw dist="23000" dir="5400000" rotWithShape="0">
              <a:srgbClr val="80808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95373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14"/>
          <p:cNvSpPr txBox="1">
            <a:spLocks noGrp="1"/>
          </p:cNvSpPr>
          <p:nvPr>
            <p:ph type="title"/>
          </p:nvPr>
        </p:nvSpPr>
        <p:spPr>
          <a:xfrm>
            <a:off x="2667000" y="228600"/>
            <a:ext cx="7620000" cy="78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ctr">
              <a:defRPr b="1" sz="1300">
                <a:solidFill>
                  <a:srgbClr val="FFFFFF"/>
                </a:solidFill>
                <a:latin typeface="Calibri"/>
              </a:defRPr>
            </a:pPr>
            <a:r>
              <a:t>RailFlow AI  |  Real-Time Locomotive GPS → Graph AI Engine → Dynamic ETA &amp; Platform Protector</a:t>
            </a:r>
            <a:endParaRPr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2" name="Google Shape;102;p14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b="1">
                <a:solidFill>
                  <a:schemeClr val="lt1"/>
                </a:solidFill>
              </a:rPr>
              <a:t>2</a:t>
            </a:fld>
            <a:endParaRPr b="1">
              <a:solidFill>
                <a:schemeClr val="lt1"/>
              </a:solidFill>
            </a:endParaRPr>
          </a:p>
        </p:txBody>
      </p:sp>
      <p:sp>
        <p:nvSpPr>
          <p:cNvPr id="103" name="Google Shape;103;p14"/>
          <p:cNvSpPr txBox="1">
            <a:spLocks noGrp="1"/>
          </p:cNvSpPr>
          <p:nvPr>
            <p:ph type="ftr" idx="11"/>
          </p:nvPr>
        </p:nvSpPr>
        <p:spPr>
          <a:xfrm>
            <a:off x="4648200" y="6356353"/>
            <a:ext cx="3204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lt1"/>
                </a:solidFill>
              </a:rPr>
              <a:t>@TEKATHON-5.0- Template</a:t>
            </a:r>
            <a:endParaRPr>
              <a:solidFill>
                <a:schemeClr val="lt1"/>
              </a:solidFill>
            </a:endParaRPr>
          </a:p>
        </p:txBody>
      </p:sp>
      <p:pic>
        <p:nvPicPr>
          <p:cNvPr id="104" name="Google Shape;104;p14"/>
          <p:cNvPicPr preferRelativeResize="0"/>
          <p:nvPr/>
        </p:nvPicPr>
        <p:blipFill rotWithShape="1">
          <a:blip r:embed="rId3">
            <a:alphaModFix/>
          </a:blip>
          <a:srcRect l="9212" t="14430" r="7717" b="15488"/>
          <a:stretch/>
        </p:blipFill>
        <p:spPr>
          <a:xfrm>
            <a:off x="464750" y="298625"/>
            <a:ext cx="2040401" cy="870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5" name="Google Shape;105;p14" title="crazy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377525" y="298623"/>
            <a:ext cx="1167750" cy="1025275"/>
          </a:xfrm>
          <a:prstGeom prst="rect">
            <a:avLst/>
          </a:prstGeom>
          <a:noFill/>
          <a:ln>
            <a:noFill/>
          </a:ln>
        </p:spPr>
      </p:pic>
      <p:sp>
        <p:nvSpPr>
          <p:cNvPr id="301" name="Idea Name Banner"/>
          <p:cNvSpPr/>
          <p:nvPr/>
        </p:nvSpPr>
        <p:spPr>
          <a:xfrm>
            <a:off x="508000" y="1371600"/>
            <a:ext cx="11176000" cy="584200"/>
          </a:xfrm>
          <a:prstGeom prst="roundRect">
            <a:avLst>
              <a:gd name="adj" fmla="val 12000"/>
            </a:avLst>
          </a:prstGeom>
          <a:solidFill>
            <a:srgbClr val="2E7D32"/>
          </a:solidFill>
          <a:ln>
            <a:noFill/>
          </a:ln>
        </p:spPr>
        <p:txBody>
          <a:bodyPr lIns="114300" tIns="45720" rIns="114300" bIns="45720" anchor="ctr"/>
          <a:lstStyle/>
          <a:p>
            <a:pPr algn="ctr">
              <a:buNone/>
              <a:defRPr b="1" sz="1300">
                <a:solidFill>
                  <a:srgbClr val="FFFFFF"/>
                </a:solidFill>
                <a:latin typeface="Calibri"/>
              </a:defRPr>
            </a:pPr>
            <a:r>
              <a:t>RailFlow AI  |  Real-Time Locomotive GPS → Graph AI Engine → Dynamic ETA &amp; Platform Protector</a:t>
            </a:r>
          </a:p>
        </p:txBody>
      </p:sp>
      <p:sp>
        <p:nvSpPr>
          <p:cNvPr id="302" name="Card Solution"/>
          <p:cNvSpPr/>
          <p:nvPr/>
        </p:nvSpPr>
        <p:spPr>
          <a:xfrm>
            <a:off x="508000" y="2006600"/>
            <a:ext cx="3556000" cy="2463800"/>
          </a:xfrm>
          <a:prstGeom prst="roundRect">
            <a:avLst>
              <a:gd name="adj" fmla="val 6000"/>
            </a:avLst>
          </a:prstGeom>
          <a:solidFill>
            <a:srgbClr val="F1F8E9"/>
          </a:solidFill>
          <a:ln w="12700">
            <a:solidFill>
              <a:srgbClr val="A5D6A7"/>
            </a:solidFill>
          </a:ln>
        </p:spPr>
        <p:txBody>
          <a:bodyPr lIns="114300" tIns="91440" rIns="114300" bIns="91440" anchor="t">
            <a:norm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  <a:buNone/>
              <a:defRPr b="1" sz="1100">
                <a:solidFill>
                  <a:srgbClr val="15803D"/>
                </a:solidFill>
                <a:latin typeface="Calibri"/>
              </a:defRPr>
            </a:pPr>
            <a:r>
              <a:t>PROPOSED SOLUTION</a:t>
            </a:r>
          </a:p>
          <a:p>
            <a:pPr>
              <a:spcAft>
                <a:spcPts val="300"/>
              </a:spcAft>
              <a:defRPr sz="950">
                <a:solidFill>
                  <a:srgbClr val="1E293B"/>
                </a:solidFill>
                <a:latin typeface="Calibri"/>
              </a:defRPr>
            </a:pPr>
            <a:r>
              <a:t>• Live GPS + Signal + Track traffic fused into live network graph</a:t>
            </a:r>
          </a:p>
          <a:p>
            <a:pPr>
              <a:spcAft>
                <a:spcPts val="300"/>
              </a:spcAft>
              <a:defRPr sz="950">
                <a:solidFill>
                  <a:srgbClr val="1E293B"/>
                </a:solidFill>
                <a:latin typeface="Calibri"/>
              </a:defRPr>
            </a:pPr>
            <a:r>
              <a:t>• Dynamic ETA recalculation every 30s based on track reality</a:t>
            </a:r>
          </a:p>
          <a:p>
            <a:pPr>
              <a:spcAft>
                <a:spcPts val="300"/>
              </a:spcAft>
              <a:defRPr sz="950">
                <a:solidFill>
                  <a:srgbClr val="1E293B"/>
                </a:solidFill>
                <a:latin typeface="Calibri"/>
              </a:defRPr>
            </a:pPr>
            <a:r>
              <a:t>• Probabilistic arrival range (e.g. 18:45 ± 4 mins, 94% CI)</a:t>
            </a:r>
          </a:p>
          <a:p>
            <a:pPr>
              <a:spcAft>
                <a:spcPts val="300"/>
              </a:spcAft>
              <a:defRPr sz="950">
                <a:solidFill>
                  <a:srgbClr val="1E293B"/>
                </a:solidFill>
                <a:latin typeface="Calibri"/>
              </a:defRPr>
            </a:pPr>
            <a:r>
              <a:t>• Multi-stakeholder sync: Passenger, Station Master &amp; Controller</a:t>
            </a:r>
          </a:p>
        </p:txBody>
      </p:sp>
      <p:sp>
        <p:nvSpPr>
          <p:cNvPr id="303" name="Card Problem Fit"/>
          <p:cNvSpPr/>
          <p:nvPr/>
        </p:nvSpPr>
        <p:spPr>
          <a:xfrm>
            <a:off x="4318000" y="2006600"/>
            <a:ext cx="3556000" cy="2463800"/>
          </a:xfrm>
          <a:prstGeom prst="roundRect">
            <a:avLst>
              <a:gd name="adj" fmla="val 6000"/>
            </a:avLst>
          </a:prstGeom>
          <a:solidFill>
            <a:srgbClr val="F1F8E9"/>
          </a:solidFill>
          <a:ln w="12700">
            <a:solidFill>
              <a:srgbClr val="A5D6A7"/>
            </a:solidFill>
          </a:ln>
        </p:spPr>
        <p:txBody>
          <a:bodyPr lIns="114300" tIns="91440" rIns="114300" bIns="91440" anchor="t">
            <a:norm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  <a:buNone/>
              <a:defRPr b="1" sz="1100">
                <a:solidFill>
                  <a:srgbClr val="15803D"/>
                </a:solidFill>
                <a:latin typeface="Calibri"/>
              </a:defRPr>
            </a:pPr>
            <a:r>
              <a:t>HOW IT SOLVES THE PROBLEM</a:t>
            </a:r>
          </a:p>
          <a:p>
            <a:pPr>
              <a:spcAft>
                <a:spcPts val="300"/>
              </a:spcAft>
              <a:defRPr sz="950">
                <a:solidFill>
                  <a:srgbClr val="1E293B"/>
                </a:solidFill>
                <a:latin typeface="Calibri"/>
              </a:defRPr>
            </a:pPr>
            <a:r>
              <a:t>• Today: blind static schedule math (Timetable + Delay - Slack)</a:t>
            </a:r>
          </a:p>
          <a:p>
            <a:pPr>
              <a:spcAft>
                <a:spcPts val="300"/>
              </a:spcAft>
              <a:defRPr sz="950">
                <a:solidFill>
                  <a:srgbClr val="1E293B"/>
                </a:solidFill>
                <a:latin typeface="Calibri"/>
              </a:defRPr>
            </a:pPr>
            <a:r>
              <a:t>• Fails during cascading delays, slow trains &amp; junction congestion</a:t>
            </a:r>
          </a:p>
          <a:p>
            <a:pPr>
              <a:spcAft>
                <a:spcPts val="300"/>
              </a:spcAft>
              <a:defRPr sz="950">
                <a:solidFill>
                  <a:srgbClr val="1E293B"/>
                </a:solidFill>
                <a:latin typeface="Calibri"/>
              </a:defRPr>
            </a:pPr>
            <a:r>
              <a:t>• Arrival prediction error: 28 mins → &lt; 4 mins</a:t>
            </a:r>
          </a:p>
          <a:p>
            <a:pPr>
              <a:spcAft>
                <a:spcPts val="300"/>
              </a:spcAft>
              <a:defRPr sz="950">
                <a:solidFill>
                  <a:srgbClr val="1E293B"/>
                </a:solidFill>
                <a:latin typeface="Calibri"/>
              </a:defRPr>
            </a:pPr>
            <a:r>
              <a:t>• Anticipates overtakes &amp; signal halts before they happen</a:t>
            </a:r>
          </a:p>
        </p:txBody>
      </p:sp>
      <p:sp>
        <p:nvSpPr>
          <p:cNvPr id="304" name="Card Innovation"/>
          <p:cNvSpPr/>
          <p:nvPr/>
        </p:nvSpPr>
        <p:spPr>
          <a:xfrm>
            <a:off x="8128000" y="2006600"/>
            <a:ext cx="3556000" cy="2463800"/>
          </a:xfrm>
          <a:prstGeom prst="roundRect">
            <a:avLst>
              <a:gd name="adj" fmla="val 6000"/>
            </a:avLst>
          </a:prstGeom>
          <a:solidFill>
            <a:srgbClr val="F1F8E9"/>
          </a:solidFill>
          <a:ln w="12700">
            <a:solidFill>
              <a:srgbClr val="A5D6A7"/>
            </a:solidFill>
          </a:ln>
        </p:spPr>
        <p:txBody>
          <a:bodyPr lIns="114300" tIns="91440" rIns="114300" bIns="91440" anchor="t">
            <a:norm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  <a:buNone/>
              <a:defRPr b="1" sz="1100">
                <a:solidFill>
                  <a:srgbClr val="15803D"/>
                </a:solidFill>
                <a:latin typeface="Calibri"/>
              </a:defRPr>
            </a:pPr>
            <a:r>
              <a:t>INNOVATION &amp; UNIQUENESS</a:t>
            </a:r>
          </a:p>
          <a:p>
            <a:pPr>
              <a:spcAft>
                <a:spcPts val="300"/>
              </a:spcAft>
              <a:defRPr sz="950">
                <a:solidFill>
                  <a:srgbClr val="1E293B"/>
                </a:solidFill>
                <a:latin typeface="Calibri"/>
              </a:defRPr>
            </a:pPr>
            <a:r>
              <a:t>• "Why is my train late?" Explained: clear plain-text reasons</a:t>
            </a:r>
          </a:p>
          <a:p>
            <a:pPr>
              <a:spcAft>
                <a:spcPts val="300"/>
              </a:spcAft>
              <a:defRPr sz="950">
                <a:solidFill>
                  <a:srgbClr val="1E293B"/>
                </a:solidFill>
                <a:latin typeface="Calibri"/>
              </a:defRPr>
            </a:pPr>
            <a:r>
              <a:t>• Platform Clash Protector: 60m warning for platform overlaps</a:t>
            </a:r>
          </a:p>
          <a:p>
            <a:pPr>
              <a:spcAft>
                <a:spcPts val="300"/>
              </a:spcAft>
              <a:defRPr sz="950">
                <a:solidFill>
                  <a:srgbClr val="1E293B"/>
                </a:solidFill>
                <a:latin typeface="Calibri"/>
              </a:defRPr>
            </a:pPr>
            <a:r>
              <a:t>• Dispatcher What-If Simulator: test routing to prevent gridlock</a:t>
            </a:r>
          </a:p>
          <a:p>
            <a:pPr>
              <a:spcAft>
                <a:spcPts val="300"/>
              </a:spcAft>
              <a:defRPr sz="950">
                <a:solidFill>
                  <a:srgbClr val="1E293B"/>
                </a:solidFill>
                <a:latin typeface="Calibri"/>
              </a:defRPr>
            </a:pPr>
            <a:r>
              <a:t>• Zero Extra Hardware: uses existing ISRO NavIC / RTIS GPS</a:t>
            </a:r>
          </a:p>
        </p:txBody>
      </p:sp>
      <p:sp>
        <p:nvSpPr>
          <p:cNvPr id="305" name="Edge Callout"/>
          <p:cNvSpPr/>
          <p:nvPr/>
        </p:nvSpPr>
        <p:spPr>
          <a:xfrm>
            <a:off x="508000" y="4648200"/>
            <a:ext cx="11176000" cy="1320800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 w="19050">
            <a:solidFill>
              <a:srgbClr val="EF6C00"/>
            </a:solidFill>
          </a:ln>
        </p:spPr>
        <p:txBody>
          <a:bodyPr lIns="182880" tIns="91440" rIns="182880" bIns="91440" anchor="ctr"/>
          <a:lstStyle/>
          <a:p>
            <a:pPr algn="l">
              <a:spcAft>
                <a:spcPts val="200"/>
              </a:spcAft>
              <a:buNone/>
              <a:defRPr b="1" sz="1000">
                <a:solidFill>
                  <a:srgbClr val="B45309"/>
                </a:solidFill>
                <a:latin typeface="Calibri"/>
              </a:defRPr>
            </a:pPr>
            <a:r>
              <a:t>OUR TECHNICAL EDGE</a:t>
            </a:r>
          </a:p>
          <a:p>
            <a:r>
              <a:rPr b="1" sz="1050">
                <a:solidFill>
                  <a:srgbClr val="0A2540"/>
                </a:solidFill>
              </a:rPr>
              <a:t>Spatial Track Graph  +  Multi-Factor LightGBM ML  +  Platform Clash Auto-Resolver
</a:t>
            </a:r>
            <a:r>
              <a:rPr sz="950">
                <a:solidFill>
                  <a:srgbClr val="475569"/>
                </a:solidFill>
              </a:rPr>
              <a:t>Static NTES and basic tracking apps deliver none of these three.</a:t>
            </a:r>
          </a:p>
        </p:txBody>
      </p:sp>
    </p:spTree>
    <p:extLst>
      <p:ext uri="{BB962C8B-B14F-4D97-AF65-F5344CB8AC3E}">
        <p14:creationId xmlns:p14="http://schemas.microsoft.com/office/powerpoint/2010/main" val="36147001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Tech Stack Strip"/>
          <p:cNvSpPr/>
          <p:nvPr/>
        </p:nvSpPr>
        <p:spPr>
          <a:xfrm>
            <a:off x="508000" y="1168400"/>
            <a:ext cx="11176000" cy="635000"/>
          </a:xfrm>
          <a:prstGeom prst="roundRect">
            <a:avLst>
              <a:gd name="adj" fmla="val 10000"/>
            </a:avLst>
          </a:prstGeom>
          <a:solidFill>
            <a:srgbClr val="E8F5E9"/>
          </a:solidFill>
          <a:ln w="12700">
            <a:solidFill>
              <a:srgbClr val="2E7D32"/>
            </a:solidFill>
          </a:ln>
        </p:spPr>
        <p:txBody>
          <a:bodyPr lIns="137160" tIns="45720" rIns="137160" bIns="45720" anchor="ctr">
            <a:normAutofit/>
          </a:bodyPr>
          <a:lstStyle/>
          <a:p>
            <a:pPr algn="l">
              <a:lnSpc>
                <a:spcPct val="100000"/>
              </a:lnSpc>
              <a:buNone/>
            </a:pPr>
            <a:r>
              <a:rPr b="1" sz="1000">
                <a:solidFill>
                  <a:srgbClr val="15803D"/>
                </a:solidFill>
              </a:rPr>
              <a:t>TECH STACK   </a:t>
            </a:r>
            <a:r>
              <a:rPr sz="950">
                <a:solidFill>
                  <a:srgbClr val="1E293B"/>
                </a:solidFill>
              </a:rPr>
              <a:t>React.js / TailwindCSS · Python + FastAPI (Async) · WebSockets · LightGBM Regressor · NetworkX (Spatial Graph) · PostgreSQL + PostGIS · Open-Meteo Free Weather API</a:t>
            </a:r>
          </a:p>
        </p:txBody>
      </p:sp>
      <p:sp>
        <p:nvSpPr>
          <p:cNvPr id="411" name="Step 1"/>
          <p:cNvSpPr/>
          <p:nvPr/>
        </p:nvSpPr>
        <p:spPr>
          <a:xfrm>
            <a:off x="508000" y="1922859"/>
            <a:ext cx="3175000" cy="1422400"/>
          </a:xfrm>
          <a:prstGeom prst="roundRect">
            <a:avLst>
              <a:gd name="adj" fmla="val 7000"/>
            </a:avLst>
          </a:prstGeom>
          <a:solidFill>
            <a:srgbClr val="F1F8E9"/>
          </a:solidFill>
          <a:ln w="12700">
            <a:solidFill>
              <a:srgbClr val="A5D6A7"/>
            </a:solidFill>
          </a:ln>
        </p:spPr>
        <p:txBody>
          <a:bodyPr lIns="100584" tIns="68580" rIns="100584" bIns="68580" anchor="ctr">
            <a:norm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  <a:buNone/>
              <a:defRPr b="1" sz="1000">
                <a:solidFill>
                  <a:srgbClr val="15803D"/>
                </a:solidFill>
              </a:defRPr>
            </a:pPr>
            <a:r>
              <a:t>1  Ingest &amp; Telemetry</a:t>
            </a:r>
          </a:p>
          <a:p>
            <a:pPr>
              <a:defRPr sz="880">
                <a:solidFill>
                  <a:srgbClr val="1E293B"/>
                </a:solidFill>
              </a:defRPr>
            </a:pPr>
            <a:r>
              <a:t>RTIS GPS (ISRO NavIC) 30s stream + Open-Meteo Weather + TSR Caution Orders</a:t>
            </a:r>
          </a:p>
        </p:txBody>
      </p:sp>
      <p:sp>
        <p:nvSpPr>
          <p:cNvPr id="412" name="Step 2"/>
          <p:cNvSpPr/>
          <p:nvPr/>
        </p:nvSpPr>
        <p:spPr>
          <a:xfrm>
            <a:off x="4533900" y="1922859"/>
            <a:ext cx="3175000" cy="1422400"/>
          </a:xfrm>
          <a:prstGeom prst="roundRect">
            <a:avLst>
              <a:gd name="adj" fmla="val 7000"/>
            </a:avLst>
          </a:prstGeom>
          <a:solidFill>
            <a:srgbClr val="F1F8E9"/>
          </a:solidFill>
          <a:ln w="12700">
            <a:solidFill>
              <a:srgbClr val="A5D6A7"/>
            </a:solidFill>
          </a:ln>
        </p:spPr>
        <p:txBody>
          <a:bodyPr lIns="100584" tIns="68580" rIns="100584" bIns="68580" anchor="ctr">
            <a:norm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  <a:buNone/>
              <a:defRPr b="1" sz="1000">
                <a:solidFill>
                  <a:srgbClr val="15803D"/>
                </a:solidFill>
              </a:defRPr>
            </a:pPr>
            <a:r>
              <a:t>2  Spatial Track Graph</a:t>
            </a:r>
          </a:p>
          <a:p>
            <a:pPr>
              <a:defRPr sz="880">
                <a:solidFill>
                  <a:srgbClr val="1E293B"/>
                </a:solidFill>
              </a:defRPr>
            </a:pPr>
            <a:r>
              <a:t>NetworkX Directed Railway Graph — Stations as Nodes, Block Sections as Edges</a:t>
            </a:r>
          </a:p>
        </p:txBody>
      </p:sp>
      <p:sp>
        <p:nvSpPr>
          <p:cNvPr id="413" name="Step 3"/>
          <p:cNvSpPr/>
          <p:nvPr/>
        </p:nvSpPr>
        <p:spPr>
          <a:xfrm>
            <a:off x="8483600" y="1915319"/>
            <a:ext cx="3175000" cy="1422400"/>
          </a:xfrm>
          <a:prstGeom prst="roundRect">
            <a:avLst>
              <a:gd name="adj" fmla="val 7000"/>
            </a:avLst>
          </a:prstGeom>
          <a:solidFill>
            <a:srgbClr val="F1F8E9"/>
          </a:solidFill>
          <a:ln w="12700">
            <a:solidFill>
              <a:srgbClr val="A5D6A7"/>
            </a:solidFill>
          </a:ln>
        </p:spPr>
        <p:txBody>
          <a:bodyPr lIns="100584" tIns="68580" rIns="100584" bIns="68580" anchor="ctr">
            <a:norm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  <a:buNone/>
              <a:defRPr b="1" sz="1000">
                <a:solidFill>
                  <a:srgbClr val="15803D"/>
                </a:solidFill>
              </a:defRPr>
            </a:pPr>
            <a:r>
              <a:t>3  Kinematics &amp; Headway Engine</a:t>
            </a:r>
          </a:p>
          <a:p>
            <a:pPr>
              <a:defRPr sz="880">
                <a:solidFill>
                  <a:srgbClr val="1E293B"/>
                </a:solidFill>
              </a:defRPr>
            </a:pPr>
            <a:r>
              <a:t>Rake traction curves (WAP-7, LHB) + Automatic Block Signaling headway</a:t>
            </a:r>
          </a:p>
        </p:txBody>
      </p:sp>
      <p:sp>
        <p:nvSpPr>
          <p:cNvPr id="414" name="Step 4"/>
          <p:cNvSpPr/>
          <p:nvPr/>
        </p:nvSpPr>
        <p:spPr>
          <a:xfrm>
            <a:off x="8483600" y="3469481"/>
            <a:ext cx="3175000" cy="1422400"/>
          </a:xfrm>
          <a:prstGeom prst="roundRect">
            <a:avLst>
              <a:gd name="adj" fmla="val 7000"/>
            </a:avLst>
          </a:prstGeom>
          <a:solidFill>
            <a:srgbClr val="F1F8E9"/>
          </a:solidFill>
          <a:ln w="12700">
            <a:solidFill>
              <a:srgbClr val="A5D6A7"/>
            </a:solidFill>
          </a:ln>
        </p:spPr>
        <p:txBody>
          <a:bodyPr lIns="100584" tIns="68580" rIns="100584" bIns="68580" anchor="ctr">
            <a:norm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  <a:buNone/>
              <a:defRPr b="1" sz="1000">
                <a:solidFill>
                  <a:srgbClr val="15803D"/>
                </a:solidFill>
              </a:defRPr>
            </a:pPr>
            <a:r>
              <a:t>4  Priority &amp; Overtake Modeling</a:t>
            </a:r>
          </a:p>
          <a:p>
            <a:pPr>
              <a:defRPr sz="880">
                <a:solidFill>
                  <a:srgbClr val="1E293B"/>
                </a:solidFill>
              </a:defRPr>
            </a:pPr>
            <a:r>
              <a:t>Detects trailing Vande Bharat/Rajdhani &amp; anticipates loop-line siding halts</a:t>
            </a:r>
          </a:p>
        </p:txBody>
      </p:sp>
      <p:sp>
        <p:nvSpPr>
          <p:cNvPr id="415" name="Step 5"/>
          <p:cNvSpPr/>
          <p:nvPr/>
        </p:nvSpPr>
        <p:spPr>
          <a:xfrm>
            <a:off x="4508500" y="3512742"/>
            <a:ext cx="3175000" cy="1422400"/>
          </a:xfrm>
          <a:prstGeom prst="roundRect">
            <a:avLst>
              <a:gd name="adj" fmla="val 7000"/>
            </a:avLst>
          </a:prstGeom>
          <a:solidFill>
            <a:srgbClr val="F1F8E9"/>
          </a:solidFill>
          <a:ln w="12700">
            <a:solidFill>
              <a:srgbClr val="A5D6A7"/>
            </a:solidFill>
          </a:ln>
        </p:spPr>
        <p:txBody>
          <a:bodyPr lIns="100584" tIns="68580" rIns="100584" bIns="68580" anchor="ctr">
            <a:norm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  <a:buNone/>
              <a:defRPr b="1" sz="1000">
                <a:solidFill>
                  <a:srgbClr val="15803D"/>
                </a:solidFill>
              </a:defRPr>
            </a:pPr>
            <a:r>
              <a:t>5  LightGBM Dynamic ETA Engine</a:t>
            </a:r>
          </a:p>
          <a:p>
            <a:pPr>
              <a:defRPr sz="880">
                <a:solidFill>
                  <a:srgbClr val="1E293B"/>
                </a:solidFill>
              </a:defRPr>
            </a:pPr>
            <a:r>
              <a:t>Multi-horizon delay regression with probabilistic confidence bounds (±4 min)</a:t>
            </a:r>
          </a:p>
        </p:txBody>
      </p:sp>
      <p:sp>
        <p:nvSpPr>
          <p:cNvPr id="416" name="Step 6"/>
          <p:cNvSpPr/>
          <p:nvPr/>
        </p:nvSpPr>
        <p:spPr>
          <a:xfrm>
            <a:off x="508000" y="3521307"/>
            <a:ext cx="3175000" cy="1422400"/>
          </a:xfrm>
          <a:prstGeom prst="roundRect">
            <a:avLst>
              <a:gd name="adj" fmla="val 7000"/>
            </a:avLst>
          </a:prstGeom>
          <a:solidFill>
            <a:srgbClr val="F1F8E9"/>
          </a:solidFill>
          <a:ln w="12700">
            <a:solidFill>
              <a:srgbClr val="A5D6A7"/>
            </a:solidFill>
          </a:ln>
        </p:spPr>
        <p:txBody>
          <a:bodyPr lIns="100584" tIns="68580" rIns="100584" bIns="68580" anchor="ctr">
            <a:norm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  <a:buNone/>
              <a:defRPr b="1" sz="1000">
                <a:solidFill>
                  <a:srgbClr val="15803D"/>
                </a:solidFill>
              </a:defRPr>
            </a:pPr>
            <a:r>
              <a:t>6  Alerts &amp; Controller Dashboard</a:t>
            </a:r>
          </a:p>
          <a:p>
            <a:pPr>
              <a:defRPr sz="880">
                <a:solidFill>
                  <a:srgbClr val="1E293B"/>
                </a:solidFill>
              </a:defRPr>
            </a:pPr>
            <a:r>
              <a:t>WebSocket stream to Passenger App, Station Master &amp; DRM Control Center</a:t>
            </a:r>
          </a:p>
        </p:txBody>
      </p:sp>
      <p:sp>
        <p:nvSpPr>
          <p:cNvPr id="421" name="Arrow 421"/>
          <p:cNvSpPr/>
          <p:nvPr/>
        </p:nvSpPr>
        <p:spPr>
          <a:xfrm>
            <a:off x="3733800" y="2603480"/>
            <a:ext cx="723900" cy="254000"/>
          </a:xfrm>
          <a:prstGeom prst="rightArrow">
            <a:avLst/>
          </a:prstGeom>
          <a:solidFill>
            <a:srgbClr val="2E7D32"/>
          </a:solidFill>
          <a:ln>
            <a:noFill/>
          </a:ln>
        </p:spPr>
        <p:txBody>
          <a:bodyPr/>
          <a:lstStyle/>
          <a:p>
            <a:endParaRPr lang="en-GB" sz="1400">
              <a:solidFill>
                <a:srgbClr val="FFFFFF"/>
              </a:solidFill>
            </a:endParaRPr>
          </a:p>
        </p:txBody>
      </p:sp>
      <p:sp>
        <p:nvSpPr>
          <p:cNvPr id="422" name="Arrow 422"/>
          <p:cNvSpPr/>
          <p:nvPr/>
        </p:nvSpPr>
        <p:spPr>
          <a:xfrm>
            <a:off x="7759700" y="2574693"/>
            <a:ext cx="723900" cy="254000"/>
          </a:xfrm>
          <a:prstGeom prst="rightArrow">
            <a:avLst/>
          </a:prstGeom>
          <a:solidFill>
            <a:srgbClr val="2E7D32"/>
          </a:solidFill>
          <a:ln>
            <a:noFill/>
          </a:ln>
        </p:spPr>
        <p:txBody>
          <a:bodyPr/>
          <a:lstStyle/>
          <a:p>
            <a:endParaRPr lang="en-GB" sz="1400">
              <a:solidFill>
                <a:srgbClr val="FFFFFF"/>
              </a:solidFill>
            </a:endParaRPr>
          </a:p>
        </p:txBody>
      </p:sp>
      <p:sp>
        <p:nvSpPr>
          <p:cNvPr id="423" name="Arrow 423"/>
          <p:cNvSpPr/>
          <p:nvPr/>
        </p:nvSpPr>
        <p:spPr>
          <a:xfrm>
            <a:off x="9880600" y="3378200"/>
            <a:ext cx="381000" cy="381000"/>
          </a:xfrm>
          <a:prstGeom prst="downArrow">
            <a:avLst/>
          </a:prstGeom>
          <a:solidFill>
            <a:srgbClr val="2E7D32"/>
          </a:solidFill>
          <a:ln>
            <a:noFill/>
          </a:ln>
        </p:spPr>
        <p:txBody>
          <a:bodyPr/>
          <a:lstStyle/>
          <a:p>
            <a:endParaRPr lang="en-GB" sz="1400">
              <a:solidFill>
                <a:srgbClr val="FFFFFF"/>
              </a:solidFill>
            </a:endParaRPr>
          </a:p>
        </p:txBody>
      </p:sp>
      <p:sp>
        <p:nvSpPr>
          <p:cNvPr id="112" name="Google Shape;112;p15"/>
          <p:cNvSpPr txBox="1">
            <a:spLocks noGrp="1"/>
          </p:cNvSpPr>
          <p:nvPr>
            <p:ph type="title"/>
          </p:nvPr>
        </p:nvSpPr>
        <p:spPr>
          <a:xfrm>
            <a:off x="2667000" y="228600"/>
            <a:ext cx="7620000" cy="78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>
                <a:latin typeface="Times New Roman"/>
                <a:ea typeface="Times New Roman"/>
                <a:cs typeface="Times New Roman"/>
                <a:sym typeface="Times New Roman"/>
              </a:rPr>
              <a:t>TECHNICAL APPROACH</a:t>
            </a:r>
            <a:endParaRPr/>
          </a:p>
        </p:txBody>
      </p:sp>
      <p:sp>
        <p:nvSpPr>
          <p:cNvPr id="114" name="Google Shape;114;p15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b="1">
                <a:solidFill>
                  <a:schemeClr val="lt1"/>
                </a:solidFill>
              </a:rPr>
              <a:t>3</a:t>
            </a:fld>
            <a:endParaRPr b="1">
              <a:solidFill>
                <a:schemeClr val="lt1"/>
              </a:solidFill>
            </a:endParaRPr>
          </a:p>
        </p:txBody>
      </p:sp>
      <p:sp>
        <p:nvSpPr>
          <p:cNvPr id="117" name="Google Shape;117;p15"/>
          <p:cNvSpPr txBox="1">
            <a:spLocks noGrp="1"/>
          </p:cNvSpPr>
          <p:nvPr>
            <p:ph type="ftr" idx="11"/>
          </p:nvPr>
        </p:nvSpPr>
        <p:spPr>
          <a:xfrm>
            <a:off x="4648200" y="6356353"/>
            <a:ext cx="32040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lt1"/>
                </a:solidFill>
              </a:rPr>
              <a:t>@TEKATHON-5.0- Template</a:t>
            </a:r>
            <a:endParaRPr>
              <a:solidFill>
                <a:schemeClr val="lt1"/>
              </a:solidFill>
            </a:endParaRPr>
          </a:p>
        </p:txBody>
      </p:sp>
      <p:pic>
        <p:nvPicPr>
          <p:cNvPr id="118" name="Google Shape;118;p15"/>
          <p:cNvPicPr preferRelativeResize="0"/>
          <p:nvPr/>
        </p:nvPicPr>
        <p:blipFill rotWithShape="1">
          <a:blip r:embed="rId3">
            <a:alphaModFix/>
          </a:blip>
          <a:srcRect l="9212" t="14430" r="7717" b="15488"/>
          <a:stretch/>
        </p:blipFill>
        <p:spPr>
          <a:xfrm>
            <a:off x="464750" y="105219"/>
            <a:ext cx="2040401" cy="870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p15" title="crazy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448849" y="92325"/>
            <a:ext cx="1167750" cy="1025275"/>
          </a:xfrm>
          <a:prstGeom prst="rect">
            <a:avLst/>
          </a:prstGeom>
          <a:noFill/>
          <a:ln>
            <a:noFill/>
          </a:ln>
        </p:spPr>
      </p:pic>
      <p:sp>
        <p:nvSpPr>
          <p:cNvPr id="424" name="Arrow 424"/>
          <p:cNvSpPr/>
          <p:nvPr/>
        </p:nvSpPr>
        <p:spPr>
          <a:xfrm>
            <a:off x="7708900" y="4026679"/>
            <a:ext cx="723900" cy="254000"/>
          </a:xfrm>
          <a:prstGeom prst="leftArrow">
            <a:avLst/>
          </a:prstGeom>
          <a:solidFill>
            <a:srgbClr val="2E7D32"/>
          </a:solidFill>
          <a:ln>
            <a:noFill/>
          </a:ln>
        </p:spPr>
        <p:txBody>
          <a:bodyPr/>
          <a:lstStyle/>
          <a:p>
            <a:endParaRPr lang="en-GB" sz="1400">
              <a:solidFill>
                <a:srgbClr val="FFFFFF"/>
              </a:solidFill>
            </a:endParaRPr>
          </a:p>
        </p:txBody>
      </p:sp>
      <p:sp>
        <p:nvSpPr>
          <p:cNvPr id="425" name="Arrow 425"/>
          <p:cNvSpPr/>
          <p:nvPr/>
        </p:nvSpPr>
        <p:spPr>
          <a:xfrm>
            <a:off x="3711247" y="4083249"/>
            <a:ext cx="723900" cy="254000"/>
          </a:xfrm>
          <a:prstGeom prst="leftArrow">
            <a:avLst/>
          </a:prstGeom>
          <a:solidFill>
            <a:srgbClr val="2E7D32"/>
          </a:solidFill>
          <a:ln>
            <a:noFill/>
          </a:ln>
        </p:spPr>
        <p:txBody>
          <a:bodyPr/>
          <a:lstStyle/>
          <a:p>
            <a:endParaRPr lang="en-GB" sz="1400" dirty="0">
              <a:solidFill>
                <a:srgbClr val="FFFFFF"/>
              </a:solidFill>
            </a:endParaRPr>
          </a:p>
        </p:txBody>
      </p:sp>
      <p:sp>
        <p:nvSpPr>
          <p:cNvPr id="431" name="Outcome Bar"/>
          <p:cNvSpPr/>
          <p:nvPr/>
        </p:nvSpPr>
        <p:spPr>
          <a:xfrm>
            <a:off x="464750" y="4985942"/>
            <a:ext cx="11176000" cy="482600"/>
          </a:xfrm>
          <a:prstGeom prst="roundRect">
            <a:avLst>
              <a:gd name="adj" fmla="val 20000"/>
            </a:avLst>
          </a:prstGeom>
          <a:solidFill>
            <a:srgbClr val="FFF3E0"/>
          </a:solidFill>
          <a:ln w="12700">
            <a:solidFill>
              <a:srgbClr val="EF6C00"/>
            </a:solidFill>
          </a:ln>
        </p:spPr>
        <p:txBody>
          <a:bodyPr lIns="137160" tIns="27432" rIns="137160" bIns="27432" anchor="ctr"/>
          <a:lstStyle/>
          <a:p>
            <a:pPr algn="ctr">
              <a:buNone/>
              <a:defRPr b="1" sz="1100">
                <a:solidFill>
                  <a:srgbClr val="B45309"/>
                </a:solidFill>
                <a:latin typeface="Calibri"/>
              </a:defRPr>
            </a:pPr>
            <a:r>
              <a:t>Steps 1–5 process over 10,000 trains with sub-15ms latency per section update</a:t>
            </a:r>
          </a:p>
        </p:txBody>
      </p:sp>
    </p:spTree>
    <p:extLst>
      <p:ext uri="{BB962C8B-B14F-4D97-AF65-F5344CB8AC3E}">
        <p14:creationId xmlns:p14="http://schemas.microsoft.com/office/powerpoint/2010/main" val="32961450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16"/>
          <p:cNvSpPr/>
          <p:nvPr/>
        </p:nvSpPr>
        <p:spPr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>
            <a:noFill/>
          </a:ln>
          <a:effectLst>
            <a:outerShdw dist="23000" dir="5400000" rotWithShape="0">
              <a:srgbClr val="80808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95373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16"/>
          <p:cNvSpPr txBox="1">
            <a:spLocks noGrp="1"/>
          </p:cNvSpPr>
          <p:nvPr>
            <p:ph type="title"/>
          </p:nvPr>
        </p:nvSpPr>
        <p:spPr>
          <a:xfrm>
            <a:off x="2667000" y="228600"/>
            <a:ext cx="7620000" cy="78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>
                <a:latin typeface="Times New Roman"/>
                <a:ea typeface="Times New Roman"/>
                <a:cs typeface="Times New Roman"/>
                <a:sym typeface="Times New Roman"/>
              </a:rPr>
              <a:t>FEASIBILITY AND VIABILITY</a:t>
            </a:r>
            <a:endParaRPr/>
          </a:p>
        </p:txBody>
      </p:sp>
      <p:sp>
        <p:nvSpPr>
          <p:cNvPr id="128" name="Google Shape;128;p16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Oswald"/>
              <a:buNone/>
            </a:pPr>
            <a:fld id="{00000000-1234-1234-1234-123412341234}" type="slidenum">
              <a:rPr lang="en-US" sz="1200" b="1" i="0" u="none" strike="noStrike" cap="none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4</a:t>
            </a:fld>
            <a:endParaRPr sz="1200" b="1" i="0" u="none" strike="noStrike" cap="none">
              <a:solidFill>
                <a:srgbClr val="FFFFFF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129" name="Google Shape;129;p16"/>
          <p:cNvSpPr txBox="1">
            <a:spLocks noGrp="1"/>
          </p:cNvSpPr>
          <p:nvPr>
            <p:ph type="ftr" idx="11"/>
          </p:nvPr>
        </p:nvSpPr>
        <p:spPr>
          <a:xfrm>
            <a:off x="4648200" y="6356353"/>
            <a:ext cx="3204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>
                <a:solidFill>
                  <a:schemeClr val="lt1"/>
                </a:solidFill>
              </a:rPr>
              <a:t>@TEKATHON-5.0- Template</a:t>
            </a:r>
            <a:endParaRPr>
              <a:solidFill>
                <a:srgbClr val="FFFFFF"/>
              </a:solidFill>
            </a:endParaRPr>
          </a:p>
        </p:txBody>
      </p:sp>
      <p:pic>
        <p:nvPicPr>
          <p:cNvPr id="132" name="Google Shape;132;p16"/>
          <p:cNvPicPr preferRelativeResize="0"/>
          <p:nvPr/>
        </p:nvPicPr>
        <p:blipFill rotWithShape="1">
          <a:blip r:embed="rId3">
            <a:alphaModFix/>
          </a:blip>
          <a:srcRect l="9212" t="14430" r="7717" b="15488"/>
          <a:stretch/>
        </p:blipFill>
        <p:spPr>
          <a:xfrm>
            <a:off x="464750" y="298625"/>
            <a:ext cx="2040401" cy="870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3" name="Google Shape;133;p16" title="crazy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377525" y="298623"/>
            <a:ext cx="1167750" cy="1025275"/>
          </a:xfrm>
          <a:prstGeom prst="rect">
            <a:avLst/>
          </a:prstGeom>
          <a:noFill/>
          <a:ln>
            <a:noFill/>
          </a:ln>
        </p:spPr>
      </p:pic>
      <p:sp>
        <p:nvSpPr>
          <p:cNvPr id="501" name="Stat 501"/>
          <p:cNvSpPr/>
          <p:nvPr/>
        </p:nvSpPr>
        <p:spPr>
          <a:xfrm>
            <a:off x="508000" y="1371600"/>
            <a:ext cx="3556000" cy="1270000"/>
          </a:xfrm>
          <a:prstGeom prst="roundRect">
            <a:avLst>
              <a:gd name="adj" fmla="val 8000"/>
            </a:avLst>
          </a:prstGeom>
          <a:solidFill>
            <a:srgbClr val="F1F8E9"/>
          </a:solidFill>
          <a:ln w="19050">
            <a:solidFill>
              <a:srgbClr val="A5D6A7"/>
            </a:solidFill>
          </a:ln>
        </p:spPr>
        <p:txBody>
          <a:bodyPr lIns="91440" tIns="68580" rIns="91440" bIns="68580" anchor="ctr">
            <a:normAutofit/>
          </a:bodyPr>
          <a:lstStyle/>
          <a:p>
            <a:pPr algn="ctr">
              <a:lnSpc>
                <a:spcPct val="100000"/>
              </a:lnSpc>
              <a:spcAft>
                <a:spcPts val="300"/>
              </a:spcAft>
              <a:buNone/>
              <a:defRPr b="1" sz="1600">
                <a:solidFill>
                  <a:srgbClr val="15803D"/>
                </a:solidFill>
              </a:defRPr>
            </a:pPr>
            <a:r>
              <a:t>Zero extra Capex</a:t>
            </a:r>
          </a:p>
          <a:p>
            <a:pPr>
              <a:defRPr sz="950">
                <a:solidFill>
                  <a:srgbClr val="1E293B"/>
                </a:solidFill>
              </a:defRPr>
            </a:pPr>
            <a:r>
              <a:t>100% software; plugs directly into existing CRIS RTIS (ISRO NavIC) GPS</a:t>
            </a:r>
          </a:p>
        </p:txBody>
      </p:sp>
      <p:sp>
        <p:nvSpPr>
          <p:cNvPr id="502" name="Stat 502"/>
          <p:cNvSpPr/>
          <p:nvPr/>
        </p:nvSpPr>
        <p:spPr>
          <a:xfrm>
            <a:off x="4318000" y="1371600"/>
            <a:ext cx="3556000" cy="1270000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 w="19050">
            <a:solidFill>
              <a:srgbClr val="EF6C00"/>
            </a:solidFill>
          </a:ln>
        </p:spPr>
        <p:txBody>
          <a:bodyPr lIns="91440" tIns="68580" rIns="91440" bIns="68580" anchor="ctr">
            <a:normAutofit/>
          </a:bodyPr>
          <a:lstStyle/>
          <a:p>
            <a:pPr algn="ctr">
              <a:lnSpc>
                <a:spcPct val="100000"/>
              </a:lnSpc>
              <a:spcAft>
                <a:spcPts val="300"/>
              </a:spcAft>
              <a:buNone/>
              <a:defRPr b="1" sz="1600">
                <a:solidFill>
                  <a:srgbClr val="B45309"/>
                </a:solidFill>
              </a:defRPr>
            </a:pPr>
            <a:r>
              <a:t>10,000+ trains / 17 Zones</a:t>
            </a:r>
          </a:p>
          <a:p>
            <a:pPr>
              <a:defRPr sz="950">
                <a:solidFill>
                  <a:srgbClr val="1E293B"/>
                </a:solidFill>
              </a:defRPr>
            </a:pPr>
            <a:r>
              <a:t>Async microservices handle nationwide operations in under 20ms</a:t>
            </a:r>
          </a:p>
        </p:txBody>
      </p:sp>
      <p:sp>
        <p:nvSpPr>
          <p:cNvPr id="503" name="Stat 503"/>
          <p:cNvSpPr/>
          <p:nvPr/>
        </p:nvSpPr>
        <p:spPr>
          <a:xfrm>
            <a:off x="8128000" y="1371600"/>
            <a:ext cx="3556000" cy="1270000"/>
          </a:xfrm>
          <a:prstGeom prst="roundRect">
            <a:avLst>
              <a:gd name="adj" fmla="val 8000"/>
            </a:avLst>
          </a:prstGeom>
          <a:solidFill>
            <a:srgbClr val="F1F8E9"/>
          </a:solidFill>
          <a:ln w="19050">
            <a:solidFill>
              <a:srgbClr val="A5D6A7"/>
            </a:solidFill>
          </a:ln>
        </p:spPr>
        <p:txBody>
          <a:bodyPr lIns="91440" tIns="68580" rIns="91440" bIns="68580" anchor="ctr">
            <a:normAutofit/>
          </a:bodyPr>
          <a:lstStyle/>
          <a:p>
            <a:pPr algn="ctr">
              <a:lnSpc>
                <a:spcPct val="100000"/>
              </a:lnSpc>
              <a:spcAft>
                <a:spcPts val="300"/>
              </a:spcAft>
              <a:buNone/>
              <a:defRPr b="1" sz="1600">
                <a:solidFill>
                  <a:srgbClr val="15803D"/>
                </a:solidFill>
              </a:defRPr>
            </a:pPr>
            <a:r>
              <a:t>Proven ML method</a:t>
            </a:r>
          </a:p>
          <a:p>
            <a:pPr>
              <a:defRPr sz="950">
                <a:solidFill>
                  <a:srgbClr val="1E293B"/>
                </a:solidFill>
              </a:defRPr>
            </a:pPr>
            <a:r>
              <a:t>Gradient Boosted Trees (LightGBM) are industry-standard for real-time dispatch</a:t>
            </a:r>
          </a:p>
        </p:txBody>
      </p:sp>
      <p:sp>
        <p:nvSpPr>
          <p:cNvPr id="510" name="Table Label"/>
          <p:cNvSpPr/>
          <p:nvPr/>
        </p:nvSpPr>
        <p:spPr>
          <a:xfrm>
            <a:off x="508000" y="2743200"/>
            <a:ext cx="11176000" cy="2794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buNone/>
            </a:pPr>
            <a:r>
              <a:rPr lang="en-GB" sz="1400" b="1" dirty="0">
                <a:solidFill>
                  <a:srgbClr val="2E7D32"/>
                </a:solidFill>
                <a:latin typeface="Arial"/>
                <a:cs typeface="Arial"/>
              </a:rPr>
              <a:t>RISKS &amp; MITIGATION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80489BE3-A1D9-9D4D-B549-98B4FB2932B6}"/>
              </a:ext>
            </a:extLst>
          </p:cNvPr>
          <p:cNvGraphicFramePr>
            <a:graphicFrameLocks noGrp="1"/>
          </p:cNvGraphicFramePr>
          <p:nvPr/>
        </p:nvGraphicFramePr>
        <p:xfrm>
          <a:off x="508000" y="3048000"/>
          <a:ext cx="11176000" cy="264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80000">
                  <a:extLst>
                    <a:ext uri="{9D8B030D-6E8A-4147-A177-3AD203B41FA5}">
                      <a16:colId xmlns:a16="http://schemas.microsoft.com/office/drawing/2014/main" val="653975293"/>
                    </a:ext>
                  </a:extLst>
                </a:gridCol>
                <a:gridCol w="6096000">
                  <a:extLst>
                    <a:ext uri="{9D8B030D-6E8A-4147-A177-3AD203B41FA5}">
                      <a16:colId xmlns:a16="http://schemas.microsoft.com/office/drawing/2014/main" val="3032876697"/>
                    </a:ext>
                  </a:extLst>
                </a:gridCol>
              </a:tblGrid>
              <a:tr h="406400">
                <a:tc>
                  <a:txBody>
                    <a:bodyPr/>
                    <a:lstStyle/>
                    <a:p>
                      <a:r>
                        <a:t>Risk / Challenge</a:t>
                      </a:r>
                    </a:p>
                  </a:txBody>
                  <a:tcPr anchor="ctr">
                    <a:solidFill>
                      <a:srgbClr val="2E7D3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Mitigation</a:t>
                      </a:r>
                    </a:p>
                  </a:txBody>
                  <a:tcPr anchor="ctr">
                    <a:solidFill>
                      <a:srgbClr val="2E7D3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20787870"/>
                  </a:ext>
                </a:extLst>
              </a:tr>
              <a:tr h="558800">
                <a:tc>
                  <a:txBody>
                    <a:bodyPr/>
                    <a:lstStyle/>
                    <a:p>
                      <a:r>
                        <a:t>GPS signal lost in tunnels / mountain sections</a:t>
                      </a:r>
                    </a:p>
                  </a:txBody>
                  <a:tcPr anchor="ctr">
                    <a:solidFill>
                      <a:srgbClr val="F1F8E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Physics-based Dead-Reckoning using track gradient, speed &amp; block signal timers</a:t>
                      </a:r>
                    </a:p>
                  </a:txBody>
                  <a:tcPr anchor="ctr">
                    <a:solidFill>
                      <a:srgbClr val="F1F8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35742895"/>
                  </a:ext>
                </a:extLst>
              </a:tr>
              <a:tr h="558800">
                <a:tc>
                  <a:txBody>
                    <a:bodyPr/>
                    <a:lstStyle/>
                    <a:p>
                      <a:r>
                        <a:t>Sudden track maintenance block or emergency halt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Sub-second spatial graph recalculation; delay vectors instantly propagate across lines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23574666"/>
                  </a:ext>
                </a:extLst>
              </a:tr>
              <a:tr h="558800">
                <a:tc>
                  <a:txBody>
                    <a:bodyPr/>
                    <a:lstStyle/>
                    <a:p>
                      <a:r>
                        <a:t>Peak telemetry burst during festival rush (Diwali/Chhath)</a:t>
                      </a:r>
                    </a:p>
                  </a:txBody>
                  <a:tcPr anchor="ctr">
                    <a:solidFill>
                      <a:srgbClr val="F1F8E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In-memory stream buffering (Redis / SQLite) absorbs concurrent packets with zero loss</a:t>
                      </a:r>
                    </a:p>
                  </a:txBody>
                  <a:tcPr anchor="ctr">
                    <a:solidFill>
                      <a:srgbClr val="F1F8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37779295"/>
                  </a:ext>
                </a:extLst>
              </a:tr>
              <a:tr h="558800">
                <a:tc>
                  <a:txBody>
                    <a:bodyPr/>
                    <a:lstStyle/>
                    <a:p>
                      <a:r>
                        <a:t>Passenger confusion over unexplained delays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Explainable AI (XAI) transparently translates delay root causes into plain human language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4745304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1257399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17"/>
          <p:cNvSpPr/>
          <p:nvPr/>
        </p:nvSpPr>
        <p:spPr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>
            <a:noFill/>
          </a:ln>
          <a:effectLst>
            <a:outerShdw dist="23000" dir="5400000" rotWithShape="0">
              <a:srgbClr val="80808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95373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17"/>
          <p:cNvSpPr txBox="1">
            <a:spLocks noGrp="1"/>
          </p:cNvSpPr>
          <p:nvPr>
            <p:ph type="title"/>
          </p:nvPr>
        </p:nvSpPr>
        <p:spPr>
          <a:xfrm>
            <a:off x="2667000" y="228600"/>
            <a:ext cx="7620000" cy="78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>
                <a:latin typeface="Times New Roman"/>
                <a:ea typeface="Times New Roman"/>
                <a:cs typeface="Times New Roman"/>
                <a:sym typeface="Times New Roman"/>
              </a:rPr>
              <a:t>IMPACT AND BENEFITS</a:t>
            </a:r>
            <a:endParaRPr/>
          </a:p>
        </p:txBody>
      </p:sp>
      <p:sp>
        <p:nvSpPr>
          <p:cNvPr id="142" name="Google Shape;142;p17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Oswald"/>
              <a:buNone/>
            </a:pPr>
            <a:fld id="{00000000-1234-1234-1234-123412341234}" type="slidenum">
              <a:rPr lang="en-US" sz="1200" b="1" i="0" u="none" strike="noStrike" cap="none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5</a:t>
            </a:fld>
            <a:endParaRPr sz="1200" b="1" i="0" u="none" strike="noStrike" cap="none">
              <a:solidFill>
                <a:srgbClr val="FFFFFF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143" name="Google Shape;143;p17"/>
          <p:cNvSpPr txBox="1">
            <a:spLocks noGrp="1"/>
          </p:cNvSpPr>
          <p:nvPr>
            <p:ph type="ftr" idx="11"/>
          </p:nvPr>
        </p:nvSpPr>
        <p:spPr>
          <a:xfrm>
            <a:off x="4648200" y="6356353"/>
            <a:ext cx="3204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>
                <a:solidFill>
                  <a:schemeClr val="lt1"/>
                </a:solidFill>
              </a:rPr>
              <a:t>@TEKATHON-5.0- Template</a:t>
            </a:r>
            <a:endParaRPr>
              <a:solidFill>
                <a:srgbClr val="FFFFFF"/>
              </a:solidFill>
            </a:endParaRPr>
          </a:p>
        </p:txBody>
      </p:sp>
      <p:pic>
        <p:nvPicPr>
          <p:cNvPr id="146" name="Google Shape;146;p17"/>
          <p:cNvPicPr preferRelativeResize="0"/>
          <p:nvPr/>
        </p:nvPicPr>
        <p:blipFill rotWithShape="1">
          <a:blip r:embed="rId3">
            <a:alphaModFix/>
          </a:blip>
          <a:srcRect l="9212" t="14430" r="7717" b="15488"/>
          <a:stretch/>
        </p:blipFill>
        <p:spPr>
          <a:xfrm>
            <a:off x="464750" y="298625"/>
            <a:ext cx="2040401" cy="870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7" name="Google Shape;147;p17" title="crazy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377525" y="298623"/>
            <a:ext cx="1167750" cy="1025275"/>
          </a:xfrm>
          <a:prstGeom prst="rect">
            <a:avLst/>
          </a:prstGeom>
          <a:noFill/>
          <a:ln>
            <a:noFill/>
          </a:ln>
        </p:spPr>
      </p:pic>
      <p:sp>
        <p:nvSpPr>
          <p:cNvPr id="601" name="Stat 601"/>
          <p:cNvSpPr/>
          <p:nvPr/>
        </p:nvSpPr>
        <p:spPr>
          <a:xfrm>
            <a:off x="508000" y="1371600"/>
            <a:ext cx="3556000" cy="1270000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 w="19050">
            <a:solidFill>
              <a:srgbClr val="EF6C00"/>
            </a:solidFill>
          </a:ln>
        </p:spPr>
        <p:txBody>
          <a:bodyPr lIns="91440" tIns="54864" rIns="91440" bIns="54864" anchor="ctr">
            <a:norm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  <a:buNone/>
              <a:defRPr b="1" sz="2200">
                <a:solidFill>
                  <a:srgbClr val="B45309"/>
                </a:solidFill>
              </a:defRPr>
            </a:pPr>
            <a:r>
              <a:t>85%+</a:t>
            </a:r>
          </a:p>
          <a:p>
            <a:pPr>
              <a:defRPr sz="950">
                <a:solidFill>
                  <a:srgbClr val="1E293B"/>
                </a:solidFill>
              </a:defRPr>
            </a:pPr>
            <a:r>
              <a:t>reduction in ETA prediction error (MAE drops from ~28 mins to &lt; 4 mins)</a:t>
            </a:r>
          </a:p>
        </p:txBody>
      </p:sp>
      <p:sp>
        <p:nvSpPr>
          <p:cNvPr id="602" name="Stat 602"/>
          <p:cNvSpPr/>
          <p:nvPr/>
        </p:nvSpPr>
        <p:spPr>
          <a:xfrm>
            <a:off x="4318000" y="1371600"/>
            <a:ext cx="3556000" cy="1270000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 w="19050">
            <a:solidFill>
              <a:srgbClr val="EF6C00"/>
            </a:solidFill>
          </a:ln>
        </p:spPr>
        <p:txBody>
          <a:bodyPr lIns="91440" tIns="54864" rIns="91440" bIns="54864" anchor="ctr">
            <a:norm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  <a:buNone/>
              <a:defRPr b="1" sz="2200">
                <a:solidFill>
                  <a:srgbClr val="B45309"/>
                </a:solidFill>
              </a:defRPr>
            </a:pPr>
            <a:r>
              <a:t>1.3 Billion</a:t>
            </a:r>
          </a:p>
          <a:p>
            <a:pPr>
              <a:defRPr sz="950">
                <a:solidFill>
                  <a:srgbClr val="1E293B"/>
                </a:solidFill>
              </a:defRPr>
            </a:pPr>
            <a:r>
              <a:t>annual passenger journeys protected from platform anxiety &amp; missed connections</a:t>
            </a:r>
          </a:p>
        </p:txBody>
      </p:sp>
      <p:sp>
        <p:nvSpPr>
          <p:cNvPr id="603" name="Stat 603"/>
          <p:cNvSpPr/>
          <p:nvPr/>
        </p:nvSpPr>
        <p:spPr>
          <a:xfrm>
            <a:off x="8128000" y="1371600"/>
            <a:ext cx="3556000" cy="1270000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 w="19050">
            <a:solidFill>
              <a:srgbClr val="EF6C00"/>
            </a:solidFill>
          </a:ln>
        </p:spPr>
        <p:txBody>
          <a:bodyPr lIns="91440" tIns="54864" rIns="91440" bIns="54864" anchor="ctr">
            <a:norm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  <a:buNone/>
              <a:defRPr b="1" sz="2200">
                <a:solidFill>
                  <a:srgbClr val="B45309"/>
                </a:solidFill>
              </a:defRPr>
            </a:pPr>
            <a:r>
              <a:t>&lt; 15 ms</a:t>
            </a:r>
          </a:p>
          <a:p>
            <a:pPr>
              <a:defRPr sz="950">
                <a:solidFill>
                  <a:srgbClr val="1E293B"/>
                </a:solidFill>
              </a:defRPr>
            </a:pPr>
            <a:r>
              <a:t>real-time dynamic prediction latency per train section update</a:t>
            </a:r>
          </a:p>
        </p:txBody>
      </p:sp>
      <p:sp>
        <p:nvSpPr>
          <p:cNvPr id="610" name="Audience Strip"/>
          <p:cNvSpPr/>
          <p:nvPr/>
        </p:nvSpPr>
        <p:spPr>
          <a:xfrm>
            <a:off x="508000" y="2768600"/>
            <a:ext cx="11176000" cy="609600"/>
          </a:xfrm>
          <a:prstGeom prst="roundRect">
            <a:avLst>
              <a:gd name="adj" fmla="val 16000"/>
            </a:avLst>
          </a:prstGeom>
          <a:solidFill>
            <a:srgbClr val="2E7D32"/>
          </a:solidFill>
          <a:ln>
            <a:noFill/>
          </a:ln>
        </p:spPr>
        <p:txBody>
          <a:bodyPr lIns="137160" tIns="36576" rIns="137160" bIns="36576" anchor="ctr">
            <a:normAutofit/>
          </a:bodyPr>
          <a:lstStyle/>
          <a:p>
            <a:pPr algn="ctr">
              <a:lnSpc>
                <a:spcPct val="100000"/>
              </a:lnSpc>
              <a:buNone/>
              <a:defRPr b="1" sz="1000">
                <a:solidFill>
                  <a:srgbClr val="FFFFFF"/>
                </a:solidFill>
                <a:latin typeface="Calibri"/>
              </a:defRPr>
            </a:pPr>
            <a:r>
              <a:t>Passengers: diagnosis of delays in plain words + real arrival range     |     Station Masters &amp; Controllers: live platform clash alerts + "What-If" simulator</a:t>
            </a:r>
          </a:p>
        </p:txBody>
      </p:sp>
      <p:sp>
        <p:nvSpPr>
          <p:cNvPr id="621" name="Benefit 621"/>
          <p:cNvSpPr/>
          <p:nvPr/>
        </p:nvSpPr>
        <p:spPr>
          <a:xfrm>
            <a:off x="508000" y="3530600"/>
            <a:ext cx="3556000" cy="2184400"/>
          </a:xfrm>
          <a:prstGeom prst="roundRect">
            <a:avLst>
              <a:gd name="adj" fmla="val 7000"/>
            </a:avLst>
          </a:prstGeom>
          <a:solidFill>
            <a:srgbClr val="F1F8E9"/>
          </a:solidFill>
          <a:ln w="12700">
            <a:solidFill>
              <a:srgbClr val="A5D6A7"/>
            </a:solidFill>
          </a:ln>
        </p:spPr>
        <p:txBody>
          <a:bodyPr lIns="100584" tIns="731520" rIns="100584" bIns="68580" anchor="t">
            <a:norm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  <a:buNone/>
              <a:defRPr b="1" sz="1100">
                <a:solidFill>
                  <a:srgbClr val="15803D"/>
                </a:solidFill>
              </a:defRPr>
            </a:pPr>
            <a:r>
              <a:t>OPERATIONAL</a:t>
            </a:r>
          </a:p>
          <a:p>
            <a:pPr>
              <a:defRPr sz="900">
                <a:solidFill>
                  <a:srgbClr val="1E293B"/>
                </a:solidFill>
              </a:defRPr>
            </a:pPr>
            <a:r>
              <a:t>• Prevents junction platform gridlocks</a:t>
            </a:r>
          </a:p>
          <a:p>
            <a:pPr>
              <a:defRPr sz="900">
                <a:solidFill>
                  <a:srgbClr val="1E293B"/>
                </a:solidFill>
              </a:defRPr>
            </a:pPr>
            <a:r>
              <a:t>• Synchronizes rake cleaning, watering &amp; crew changeover</a:t>
            </a:r>
          </a:p>
        </p:txBody>
      </p:sp>
      <p:sp>
        <p:nvSpPr>
          <p:cNvPr id="622" name="Benefit 622"/>
          <p:cNvSpPr/>
          <p:nvPr/>
        </p:nvSpPr>
        <p:spPr>
          <a:xfrm>
            <a:off x="4318000" y="3530600"/>
            <a:ext cx="3556000" cy="2184400"/>
          </a:xfrm>
          <a:prstGeom prst="roundRect">
            <a:avLst>
              <a:gd name="adj" fmla="val 7000"/>
            </a:avLst>
          </a:prstGeom>
          <a:solidFill>
            <a:srgbClr val="F1F8E9"/>
          </a:solidFill>
          <a:ln w="12700">
            <a:solidFill>
              <a:srgbClr val="A5D6A7"/>
            </a:solidFill>
          </a:ln>
        </p:spPr>
        <p:txBody>
          <a:bodyPr lIns="100584" tIns="731520" rIns="100584" bIns="68580" anchor="t">
            <a:norm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  <a:buNone/>
              <a:defRPr b="1" sz="1100">
                <a:solidFill>
                  <a:srgbClr val="15803D"/>
                </a:solidFill>
              </a:defRPr>
            </a:pPr>
            <a:r>
              <a:t>ECONOMIC</a:t>
            </a:r>
          </a:p>
          <a:p>
            <a:pPr>
              <a:defRPr sz="900">
                <a:solidFill>
                  <a:srgbClr val="1E293B"/>
                </a:solidFill>
              </a:defRPr>
            </a:pPr>
            <a:r>
              <a:t>• Cuts idle diesel/electric power waste from unnecessary halts</a:t>
            </a:r>
          </a:p>
          <a:p>
            <a:pPr>
              <a:defRPr sz="900">
                <a:solidFill>
                  <a:srgbClr val="1E293B"/>
                </a:solidFill>
              </a:defRPr>
            </a:pPr>
            <a:r>
              <a:t>• Reduces crew overtime &amp; turnaround costs</a:t>
            </a:r>
          </a:p>
        </p:txBody>
      </p:sp>
      <p:sp>
        <p:nvSpPr>
          <p:cNvPr id="623" name="Benefit 623"/>
          <p:cNvSpPr/>
          <p:nvPr/>
        </p:nvSpPr>
        <p:spPr>
          <a:xfrm>
            <a:off x="8128000" y="3530600"/>
            <a:ext cx="3556000" cy="2184400"/>
          </a:xfrm>
          <a:prstGeom prst="roundRect">
            <a:avLst>
              <a:gd name="adj" fmla="val 7000"/>
            </a:avLst>
          </a:prstGeom>
          <a:solidFill>
            <a:srgbClr val="F1F8E9"/>
          </a:solidFill>
          <a:ln w="12700">
            <a:solidFill>
              <a:srgbClr val="A5D6A7"/>
            </a:solidFill>
          </a:ln>
        </p:spPr>
        <p:txBody>
          <a:bodyPr lIns="100584" tIns="731520" rIns="100584" bIns="68580" anchor="t">
            <a:norm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  <a:buNone/>
              <a:defRPr b="1" sz="1100">
                <a:solidFill>
                  <a:srgbClr val="15803D"/>
                </a:solidFill>
              </a:defRPr>
            </a:pPr>
            <a:r>
              <a:t>SOCIAL</a:t>
            </a:r>
          </a:p>
          <a:p>
            <a:pPr>
              <a:defRPr sz="900">
                <a:solidFill>
                  <a:srgbClr val="1E293B"/>
                </a:solidFill>
              </a:defRPr>
            </a:pPr>
            <a:r>
              <a:t>• Restores commuter trust in railway punctuality</a:t>
            </a:r>
          </a:p>
          <a:p>
            <a:pPr>
              <a:defRPr sz="900">
                <a:solidFill>
                  <a:srgbClr val="1E293B"/>
                </a:solidFill>
              </a:defRPr>
            </a:pPr>
            <a:r>
              <a:t>• Eliminates dangerous station platform overcrowding</a:t>
            </a:r>
          </a:p>
        </p:txBody>
      </p:sp>
      <p:pic>
        <p:nvPicPr>
          <p:cNvPr id="624" name="Graphic 624" descr="Social benefit icon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006600" y="3708400"/>
            <a:ext cx="558800" cy="558800"/>
          </a:xfrm>
          <a:prstGeom prst="rect">
            <a:avLst/>
          </a:prstGeom>
        </p:spPr>
      </p:pic>
      <p:pic>
        <p:nvPicPr>
          <p:cNvPr id="625" name="Graphic 625" descr="Economic benefit icon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816600" y="3708400"/>
            <a:ext cx="558800" cy="558800"/>
          </a:xfrm>
          <a:prstGeom prst="rect">
            <a:avLst/>
          </a:prstGeom>
        </p:spPr>
      </p:pic>
      <p:pic>
        <p:nvPicPr>
          <p:cNvPr id="626" name="Graphic 626" descr="Environmental benefit icon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626600" y="3708400"/>
            <a:ext cx="558800" cy="558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123029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18"/>
          <p:cNvSpPr/>
          <p:nvPr/>
        </p:nvSpPr>
        <p:spPr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>
            <a:noFill/>
          </a:ln>
          <a:effectLst>
            <a:outerShdw dist="23000" dir="5400000" rotWithShape="0">
              <a:srgbClr val="80808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95373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18"/>
          <p:cNvSpPr txBox="1">
            <a:spLocks noGrp="1"/>
          </p:cNvSpPr>
          <p:nvPr>
            <p:ph type="title"/>
          </p:nvPr>
        </p:nvSpPr>
        <p:spPr>
          <a:xfrm>
            <a:off x="2667000" y="228600"/>
            <a:ext cx="7620000" cy="78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>
                <a:latin typeface="Times New Roman"/>
                <a:ea typeface="Times New Roman"/>
                <a:cs typeface="Times New Roman"/>
                <a:sym typeface="Times New Roman"/>
              </a:rPr>
              <a:t>RESEARCH  AND REFERENCES</a:t>
            </a:r>
            <a:endParaRPr/>
          </a:p>
        </p:txBody>
      </p:sp>
      <p:sp>
        <p:nvSpPr>
          <p:cNvPr id="156" name="Google Shape;156;p18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Oswald"/>
              <a:buNone/>
            </a:pPr>
            <a:fld id="{00000000-1234-1234-1234-123412341234}" type="slidenum">
              <a:rPr lang="en-US" sz="1200" b="1" i="0" u="none" strike="noStrike" cap="none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6</a:t>
            </a:fld>
            <a:endParaRPr sz="1200" b="1" i="0" u="none" strike="noStrike" cap="none">
              <a:solidFill>
                <a:srgbClr val="FFFFFF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157" name="Google Shape;157;p18"/>
          <p:cNvSpPr txBox="1">
            <a:spLocks noGrp="1"/>
          </p:cNvSpPr>
          <p:nvPr>
            <p:ph type="ftr" idx="11"/>
          </p:nvPr>
        </p:nvSpPr>
        <p:spPr>
          <a:xfrm>
            <a:off x="4648200" y="6356353"/>
            <a:ext cx="3204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>
                <a:solidFill>
                  <a:schemeClr val="lt1"/>
                </a:solidFill>
              </a:rPr>
              <a:t>@TEKATHON-5.0- Template</a:t>
            </a:r>
            <a:endParaRPr>
              <a:solidFill>
                <a:srgbClr val="FFFFFF"/>
              </a:solidFill>
            </a:endParaRPr>
          </a:p>
        </p:txBody>
      </p:sp>
      <p:pic>
        <p:nvPicPr>
          <p:cNvPr id="160" name="Google Shape;160;p18"/>
          <p:cNvPicPr preferRelativeResize="0"/>
          <p:nvPr/>
        </p:nvPicPr>
        <p:blipFill rotWithShape="1">
          <a:blip r:embed="rId3">
            <a:alphaModFix/>
          </a:blip>
          <a:srcRect l="9212" t="14430" r="7717" b="15488"/>
          <a:stretch/>
        </p:blipFill>
        <p:spPr>
          <a:xfrm>
            <a:off x="464750" y="298625"/>
            <a:ext cx="2040401" cy="870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1" name="Google Shape;161;p18" title="crazy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377525" y="298623"/>
            <a:ext cx="1167750" cy="1025275"/>
          </a:xfrm>
          <a:prstGeom prst="rect">
            <a:avLst/>
          </a:prstGeom>
          <a:noFill/>
          <a:ln>
            <a:noFill/>
          </a:ln>
        </p:spPr>
      </p:pic>
      <p:sp>
        <p:nvSpPr>
          <p:cNvPr id="701" name="Standards Strip"/>
          <p:cNvSpPr/>
          <p:nvPr/>
        </p:nvSpPr>
        <p:spPr>
          <a:xfrm>
            <a:off x="507999" y="3682589"/>
            <a:ext cx="11176000" cy="939800"/>
          </a:xfrm>
          <a:prstGeom prst="roundRect">
            <a:avLst>
              <a:gd name="adj" fmla="val 10000"/>
            </a:avLst>
          </a:prstGeom>
          <a:solidFill>
            <a:srgbClr val="F1F8E9"/>
          </a:solidFill>
          <a:ln w="12700">
            <a:solidFill>
              <a:srgbClr val="A5D6A7"/>
            </a:solidFill>
          </a:ln>
        </p:spPr>
        <p:txBody>
          <a:bodyPr lIns="137160" tIns="54864" rIns="137160" bIns="54864" anchor="ctr">
            <a:norm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  <a:buNone/>
              <a:defRPr b="1" sz="1050">
                <a:solidFill>
                  <a:srgbClr val="15803D"/>
                </a:solidFill>
              </a:defRPr>
            </a:pPr>
            <a:r>
              <a:t>OPEN DATA &amp; STANDARDS USED</a:t>
            </a:r>
          </a:p>
          <a:p>
            <a:pPr>
              <a:defRPr sz="950">
                <a:solidFill>
                  <a:srgbClr val="1E293B"/>
                </a:solidFill>
              </a:defRPr>
            </a:pPr>
            <a:r>
              <a:t>data.gov.in Official Railway Timetables  ·  OpenStreetMap Overpass Rail API  ·  Open-Meteo Weather API  ·  CRIS COA Protocols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1F268580-F4FF-374F-A0CF-6BE7C4FAA2B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99381903"/>
              </p:ext>
            </p:extLst>
          </p:nvPr>
        </p:nvGraphicFramePr>
        <p:xfrm>
          <a:off x="508000" y="1371600"/>
          <a:ext cx="11176000" cy="220327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604000">
                  <a:extLst>
                    <a:ext uri="{9D8B030D-6E8A-4147-A177-3AD203B41FA5}">
                      <a16:colId xmlns:a16="http://schemas.microsoft.com/office/drawing/2014/main" val="3855443503"/>
                    </a:ext>
                  </a:extLst>
                </a:gridCol>
                <a:gridCol w="4572000">
                  <a:extLst>
                    <a:ext uri="{9D8B030D-6E8A-4147-A177-3AD203B41FA5}">
                      <a16:colId xmlns:a16="http://schemas.microsoft.com/office/drawing/2014/main" val="2661381739"/>
                    </a:ext>
                  </a:extLst>
                </a:gridCol>
              </a:tblGrid>
              <a:tr h="202921">
                <a:tc>
                  <a:txBody>
                    <a:bodyPr/>
                    <a:lstStyle/>
                    <a:p>
                      <a:r>
                        <a:t>Source</a:t>
                      </a:r>
                    </a:p>
                  </a:txBody>
                  <a:tcPr anchor="ctr">
                    <a:solidFill>
                      <a:srgbClr val="2E7D3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What it evidences</a:t>
                      </a:r>
                    </a:p>
                  </a:txBody>
                  <a:tcPr anchor="ctr">
                    <a:solidFill>
                      <a:srgbClr val="2E7D3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78117573"/>
                  </a:ext>
                </a:extLst>
              </a:tr>
              <a:tr h="344965">
                <a:tc>
                  <a:txBody>
                    <a:bodyPr/>
                    <a:lstStyle/>
                    <a:p>
                      <a:r>
                        <a:t>Smart India Hackathon 2026 — PS 26028, Ministry of Railways</a:t>
                      </a:r>
                    </a:p>
                  </a:txBody>
                  <a:tcPr anchor="ctr">
                    <a:solidFill>
                      <a:srgbClr val="F1F8E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Official problem definition, scope, and coaching train requirements</a:t>
                      </a:r>
                    </a:p>
                  </a:txBody>
                  <a:tcPr anchor="ctr">
                    <a:solidFill>
                      <a:srgbClr val="F1F8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15488027"/>
                  </a:ext>
                </a:extLst>
              </a:tr>
              <a:tr h="344965">
                <a:tc>
                  <a:txBody>
                    <a:bodyPr/>
                    <a:lstStyle/>
                    <a:p>
                      <a:r>
                        <a:t>CRIS &amp; ISRO RTIS Technical Whitepapers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Locomotive GPS telemetry infrastructure (GSAT/NavIC) in Indian Railways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86013934"/>
                  </a:ext>
                </a:extLst>
              </a:tr>
              <a:tr h="343990">
                <a:tc>
                  <a:txBody>
                    <a:bodyPr/>
                    <a:lstStyle/>
                    <a:p>
                      <a:r>
                        <a:t>Spatio-Temporal Graph Neural Networks (ST-GCN) Research</a:t>
                      </a:r>
                    </a:p>
                  </a:txBody>
                  <a:tcPr anchor="ctr">
                    <a:solidFill>
                      <a:srgbClr val="F1F8E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Railway network delay propagation and block headway modeling foundations</a:t>
                      </a:r>
                    </a:p>
                  </a:txBody>
                  <a:tcPr anchor="ctr">
                    <a:solidFill>
                      <a:srgbClr val="F1F8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15719575"/>
                  </a:ext>
                </a:extLst>
              </a:tr>
              <a:tr h="344965">
                <a:tc>
                  <a:txBody>
                    <a:bodyPr/>
                    <a:lstStyle/>
                    <a:p>
                      <a:r>
                        <a:t>Indian Railways National Rail Plan (NRP 2030)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High-Density Network (HDN) line utilization and punctuality benchmarks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88910664"/>
                  </a:ext>
                </a:extLst>
              </a:tr>
            </a:tbl>
          </a:graphicData>
        </a:graphic>
      </p:graphicFrame>
      <p:sp>
        <p:nvSpPr>
          <p:cNvPr id="4" name="Rectangle 3">
            <a:extLst>
              <a:ext uri="{FF2B5EF4-FFF2-40B4-BE49-F238E27FC236}">
                <a16:creationId xmlns:a16="http://schemas.microsoft.com/office/drawing/2014/main" id="{625E23A3-711D-07AD-F9D2-4A79E5E20065}"/>
              </a:ext>
            </a:extLst>
          </p:cNvPr>
          <p:cNvSpPr/>
          <p:nvPr/>
        </p:nvSpPr>
        <p:spPr>
          <a:xfrm>
            <a:off x="464750" y="4538880"/>
            <a:ext cx="10909737" cy="1815882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marL="284818" lvl="1"/>
            <a:endParaRPr lang="en-US" u="sng" dirty="0">
              <a:hlinkClick r:id="rId5" tooltip="http://ieeexplore.ieee.org/document/10458943/%20http:/ieeexplore.ieee.org/document/10883358/%20Other%20Relevant%20Research%20Papers%20http:/arxiv.org/abs/1604.03169%20https:/link.springer.com/article/10.1186/s13007-023-01122-x%20https:/www.nature.com/articles/s41598-025-18613-7%20https:/academic.oup.com/jipm/article/12/1/16/6245490%20https:/pmc.ncbi.nlm.nih.gov/articles/PMC1647291/"/>
            </a:endParaRPr>
          </a:p>
          <a:p>
            <a:pPr marL="569636" lvl="1" indent="-284818">
              <a:buFont typeface="Arial"/>
              <a:buChar char="•"/>
            </a:pPr>
            <a:r>
              <a:rPr lang="en-US" u="sng" dirty="0">
                <a:hlinkClick r:id="rId5" tooltip="http://ieeexplore.ieee.org/document/10458943/%20http:/ieeexplore.ieee.org/document/10883358/%20Other%20Relevant%20Research%20Papers%20http:/arxiv.org/abs/1604.03169%20https:/link.springer.com/article/10.1186/s13007-023-01122-x%20https:/www.nature.com/articles/s41598-025-18613-7%20https:/academic.oup.com/jipm/article/12/1/16/6245490%20https:/pmc.ncbi.nlm.nih.gov/articles/PMC1647291/"/>
              </a:rPr>
              <a:t>http://ieeexplore.ieee.org/document/10458943/ </a:t>
            </a:r>
          </a:p>
          <a:p>
            <a:pPr marL="569636" lvl="1" indent="-284818">
              <a:buFont typeface="Arial"/>
              <a:buChar char="•"/>
            </a:pPr>
            <a:r>
              <a:rPr lang="en-US" u="sng" dirty="0">
                <a:hlinkClick r:id="rId6" tooltip="http://ieeexplore.ieee.org/document/10883358/"/>
              </a:rPr>
              <a:t>http://ieeexplore.ieee.org/document/10883358/</a:t>
            </a:r>
            <a:r>
              <a:rPr lang="en-US" dirty="0"/>
              <a:t>   </a:t>
            </a:r>
          </a:p>
          <a:p>
            <a:pPr marL="569636" lvl="1" indent="-284818">
              <a:buFont typeface="Arial"/>
              <a:buChar char="•"/>
            </a:pPr>
            <a:r>
              <a:rPr lang="en-US" u="sng" dirty="0">
                <a:hlinkClick r:id="rId7" tooltip="http://arxiv.org/abs/1604.03169"/>
              </a:rPr>
              <a:t>http://arxiv.org/abs/1604.03169 </a:t>
            </a:r>
          </a:p>
          <a:p>
            <a:pPr marL="569636" lvl="1" indent="-284818">
              <a:buFont typeface="Arial"/>
              <a:buChar char="•"/>
            </a:pPr>
            <a:r>
              <a:rPr lang="en-US" u="sng" dirty="0">
                <a:hlinkClick r:id="rId8" tooltip="https://link.springer.com/article/10.1186/s13007-023-01122-x"/>
              </a:rPr>
              <a:t>https://link.springer.com/article/10.1186/s13007-023-01122-x </a:t>
            </a:r>
          </a:p>
          <a:p>
            <a:pPr marL="569636" lvl="1" indent="-284818">
              <a:buFont typeface="Arial"/>
              <a:buChar char="•"/>
            </a:pPr>
            <a:r>
              <a:rPr lang="en-US" u="sng" dirty="0">
                <a:hlinkClick r:id="rId9" tooltip="https://www.nature.com/articles/s41598-025-18613-7"/>
              </a:rPr>
              <a:t>https://www.nature.com/articles/s41598-025-18613-7</a:t>
            </a:r>
            <a:r>
              <a:rPr lang="en-US" dirty="0"/>
              <a:t> </a:t>
            </a:r>
          </a:p>
          <a:p>
            <a:pPr marL="569636" lvl="1" indent="-284818">
              <a:buFont typeface="Arial"/>
              <a:buChar char="•"/>
            </a:pPr>
            <a:r>
              <a:rPr lang="en-US" u="sng" dirty="0">
                <a:hlinkClick r:id="rId9" tooltip="https://www.nature.com/articles/s41598-025-18613-7"/>
              </a:rPr>
              <a:t>https://academic.oup.com/jipm/article/12/1/16/6245490</a:t>
            </a:r>
            <a:r>
              <a:rPr lang="en-US" dirty="0"/>
              <a:t> </a:t>
            </a:r>
          </a:p>
          <a:p>
            <a:pPr marL="569636" lvl="1" indent="-284818">
              <a:buFont typeface="Arial"/>
              <a:buChar char="•"/>
            </a:pPr>
            <a:r>
              <a:rPr lang="en-US" u="sng" dirty="0">
                <a:hlinkClick r:id="rId10" tooltip="https://pmc.ncbi.nlm.nih.gov/articles/PMC1647291/"/>
              </a:rPr>
              <a:t>https://pmc.ncbi.nlm.nih.gov/articles/PMC1647291/</a:t>
            </a:r>
          </a:p>
        </p:txBody>
      </p:sp>
    </p:spTree>
    <p:extLst>
      <p:ext uri="{BB962C8B-B14F-4D97-AF65-F5344CB8AC3E}">
        <p14:creationId xmlns:p14="http://schemas.microsoft.com/office/powerpoint/2010/main" val="271984301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webextensions/_rels/taskpanes.xml.rels><?xml version='1.0' encoding='UTF-8' standalone='yes'?>
<Relationships xmlns="http://schemas.openxmlformats.org/package/2006/relationships"><Relationship Id="rId1" Type="http://schemas.microsoft.com/office/2011/relationships/webextension" Target="webextension1.xml"/><Relationship Id="rId2" Type="http://schemas.microsoft.com/office/2011/relationships/webextension" Target="webextension2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  <wetp:taskpane dockstate="right" visibility="0" width="350" row="0">
    <wetp:webextensionref xmlns:r="http://schemas.openxmlformats.org/officeDocument/2006/relationships" r:id="rId2"/>
  </wetp:taskpane>
</wetp:taskpanes>
</file>

<file path=ppt/webextensions/webextension1.xml><?xml version="1.0" encoding="utf-8"?>
<we:webextension xmlns:we="http://schemas.microsoft.com/office/webextensions/webextension/2010/11" id="{F66B80DB-08E5-294B-BF83-E5BD765AC082}">
  <we:reference id="wa200010001" version="1.0.0.1" store="en-US" storeType="OMEX"/>
  <we:alternateReferences>
    <we:reference id="WA200010001" version="1.0.0.1" store="" storeType="OMEX"/>
  </we:alternateReferences>
  <we:properties>
    <we:property name="claude.fileId" value="&quot;317c77b5-54c3-4163-bfe1-9202f91e9004&quot;"/>
  </we:properties>
  <we:bindings/>
  <we:snapshot xmlns:r="http://schemas.openxmlformats.org/officeDocument/2006/relationships"/>
</we:webextension>
</file>

<file path=ppt/webextensions/webextension2.xml><?xml version="1.0" encoding="utf-8"?>
<we:webextension xmlns:we="http://schemas.microsoft.com/office/webextensions/webextension/2010/11" id="{B40049CD-03A7-2F41-AFFB-ED5BF1155A12}">
  <we:reference id="wa200010725" version="1.0.0.1" store="en-US" storeType="OMEX"/>
  <we:alternateReferences>
    <we:reference id="WA200010725" version="1.0.0.1" store="" storeType="OMEX"/>
  </we:alternateReferences>
  <we:properties>
    <we:property name="claude.fileId" value="&quot;8b55f6a4-f624-4eb7-8573-83f87475fa12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582</TotalTime>
  <Words>735</Words>
  <Application>Microsoft Macintosh PowerPoint</Application>
  <PresentationFormat>Widescreen</PresentationFormat>
  <Paragraphs>112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3" baseType="lpstr">
      <vt:lpstr>Calibri</vt:lpstr>
      <vt:lpstr>Oswald</vt:lpstr>
      <vt:lpstr>Segoe UI</vt:lpstr>
      <vt:lpstr>Garamond</vt:lpstr>
      <vt:lpstr>Times New Roman</vt:lpstr>
      <vt:lpstr>Arial</vt:lpstr>
      <vt:lpstr>Office Theme</vt:lpstr>
      <vt:lpstr>TEKATHON-5.0- 2026</vt:lpstr>
      <vt:lpstr>PowerPoint Presentation</vt:lpstr>
      <vt:lpstr>TECHNICAL APPROACH</vt:lpstr>
      <vt:lpstr>FEASIBILITY AND VIABILITY</vt:lpstr>
      <vt:lpstr>IMPACT AND BENEFITS</vt:lpstr>
      <vt:lpstr>RESEARCH  AND REFERENCES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Karthikeyan P</cp:lastModifiedBy>
  <cp:revision>3</cp:revision>
  <dcterms:modified xsi:type="dcterms:W3CDTF">2026-09-04T03:37:30Z</dcterms:modified>
</cp:coreProperties>
</file>